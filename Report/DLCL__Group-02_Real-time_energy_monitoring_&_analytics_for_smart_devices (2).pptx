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4" r:id="rId5"/>
    <p:sldMasterId id="2147483696" r:id="rId6"/>
    <p:sldMasterId id="2147483708" r:id="rId7"/>
    <p:sldMasterId id="2147483720" r:id="rId8"/>
    <p:sldMasterId id="2147483858" r:id="rId9"/>
  </p:sldMasterIdLst>
  <p:notesMasterIdLst>
    <p:notesMasterId r:id="rId26"/>
  </p:notesMasterIdLst>
  <p:sldIdLst>
    <p:sldId id="313" r:id="rId10"/>
    <p:sldId id="604" r:id="rId11"/>
    <p:sldId id="611" r:id="rId12"/>
    <p:sldId id="605" r:id="rId13"/>
    <p:sldId id="606" r:id="rId14"/>
    <p:sldId id="615" r:id="rId15"/>
    <p:sldId id="617" r:id="rId16"/>
    <p:sldId id="618" r:id="rId17"/>
    <p:sldId id="620" r:id="rId18"/>
    <p:sldId id="612" r:id="rId19"/>
    <p:sldId id="607" r:id="rId20"/>
    <p:sldId id="619" r:id="rId21"/>
    <p:sldId id="614" r:id="rId22"/>
    <p:sldId id="609" r:id="rId23"/>
    <p:sldId id="610" r:id="rId24"/>
    <p:sldId id="603" r:id="rId25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1F0D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BD228F-D756-4658-BE4F-B1989B1AD291}" v="1482" dt="2026-01-06T14:45:35.051"/>
    <p1510:client id="{C85BECFA-E93B-4903-88B8-67B44DA3AFEA}" v="1899" dt="2026-01-06T14:53:40.0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-4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22C856-5667-4203-A290-A77F31F5C3D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DD67A3-859B-472B-9FE7-CA07C8221A4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1" baseline="0" dirty="0">
              <a:latin typeface="Times New Roman" panose="02020603050405020304" pitchFamily="18" charset="0"/>
            </a:rPr>
            <a:t>BC547 (NPN transistor): </a:t>
          </a:r>
          <a:r>
            <a:rPr kumimoji="1" lang="en-US" sz="1000" b="0" baseline="0" dirty="0">
              <a:latin typeface="Times New Roman" panose="02020603050405020304" pitchFamily="18" charset="0"/>
            </a:rPr>
            <a:t>Relays driven </a:t>
          </a:r>
          <a:r>
            <a:rPr lang="en-US" sz="1000" b="0" baseline="0" dirty="0">
              <a:latin typeface="Times New Roman" panose="02020603050405020304" pitchFamily="18" charset="0"/>
            </a:rPr>
            <a:t>using</a:t>
          </a:r>
          <a:r>
            <a:rPr kumimoji="1" lang="en-US" sz="1000" b="0" baseline="0" dirty="0">
              <a:latin typeface="Times New Roman" panose="02020603050405020304" pitchFamily="18" charset="0"/>
            </a:rPr>
            <a:t> BC547 NPN </a:t>
          </a:r>
          <a:r>
            <a:rPr lang="en-US" sz="1000" b="0" baseline="0" dirty="0">
              <a:latin typeface="Times New Roman" panose="02020603050405020304" pitchFamily="18" charset="0"/>
            </a:rPr>
            <a:t>transistors</a:t>
          </a:r>
          <a:r>
            <a:rPr lang="en-US" sz="1000" b="1" baseline="0" dirty="0">
              <a:latin typeface="Times New Roman" panose="02020603050405020304" pitchFamily="18" charset="0"/>
            </a:rPr>
            <a:t>  </a:t>
          </a:r>
        </a:p>
      </dgm:t>
    </dgm:pt>
    <dgm:pt modelId="{FB9AF5F4-AC34-4AA8-AA7F-4255BAE3EE46}" type="parTrans" cxnId="{506C9B26-D0B8-45C3-9412-B4BFFFE9BC72}">
      <dgm:prSet/>
      <dgm:spPr/>
      <dgm:t>
        <a:bodyPr/>
        <a:lstStyle/>
        <a:p>
          <a:endParaRPr lang="en-US" baseline="0">
            <a:latin typeface="Times New Roman" panose="02020603050405020304" pitchFamily="18" charset="0"/>
          </a:endParaRPr>
        </a:p>
      </dgm:t>
    </dgm:pt>
    <dgm:pt modelId="{25E5B177-36DC-4AAE-9EB2-D651B2D589DF}" type="sibTrans" cxnId="{506C9B26-D0B8-45C3-9412-B4BFFFE9BC72}">
      <dgm:prSet/>
      <dgm:spPr/>
      <dgm:t>
        <a:bodyPr/>
        <a:lstStyle/>
        <a:p>
          <a:pPr>
            <a:lnSpc>
              <a:spcPct val="100000"/>
            </a:lnSpc>
          </a:pPr>
          <a:endParaRPr lang="en-US" baseline="0">
            <a:latin typeface="Times New Roman" panose="02020603050405020304" pitchFamily="18" charset="0"/>
          </a:endParaRPr>
        </a:p>
      </dgm:t>
    </dgm:pt>
    <dgm:pt modelId="{DB54F447-FAEC-44FB-BB46-247F0DA6472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aseline="0" dirty="0">
              <a:latin typeface="Times New Roman" panose="02020603050405020304" pitchFamily="18" charset="0"/>
            </a:rPr>
            <a:t>5k</a:t>
          </a:r>
          <a:r>
            <a:rPr kumimoji="1" lang="en-US" sz="1000" b="1" baseline="0" dirty="0">
              <a:latin typeface="Times New Roman" panose="02020603050405020304" pitchFamily="18" charset="0"/>
            </a:rPr>
            <a:t> ohm (Resistor): </a:t>
          </a:r>
          <a:r>
            <a:rPr lang="en-US" sz="1000" baseline="0" dirty="0">
              <a:latin typeface="Times New Roman" panose="02020603050405020304" pitchFamily="18" charset="0"/>
            </a:rPr>
            <a:t>ESP32 GPIO → resistor → transistor base</a:t>
          </a:r>
        </a:p>
      </dgm:t>
    </dgm:pt>
    <dgm:pt modelId="{A8244DA0-0721-4470-996A-32CDB5FDC847}" type="parTrans" cxnId="{466A5CEF-FA9D-4E45-AF6B-D0AC0C0D714D}">
      <dgm:prSet/>
      <dgm:spPr/>
      <dgm:t>
        <a:bodyPr/>
        <a:lstStyle/>
        <a:p>
          <a:endParaRPr lang="en-US" baseline="0">
            <a:latin typeface="Times New Roman" panose="02020603050405020304" pitchFamily="18" charset="0"/>
          </a:endParaRPr>
        </a:p>
      </dgm:t>
    </dgm:pt>
    <dgm:pt modelId="{BA5A1EDE-2FA6-4015-AA03-5EAD5CE62403}" type="sibTrans" cxnId="{466A5CEF-FA9D-4E45-AF6B-D0AC0C0D714D}">
      <dgm:prSet/>
      <dgm:spPr/>
      <dgm:t>
        <a:bodyPr/>
        <a:lstStyle/>
        <a:p>
          <a:pPr>
            <a:lnSpc>
              <a:spcPct val="100000"/>
            </a:lnSpc>
          </a:pPr>
          <a:endParaRPr lang="en-US" baseline="0">
            <a:latin typeface="Times New Roman" panose="02020603050405020304" pitchFamily="18" charset="0"/>
          </a:endParaRPr>
        </a:p>
      </dgm:t>
    </dgm:pt>
    <dgm:pt modelId="{CCAA6394-61B5-4707-A6AE-21DC04E5890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1" baseline="0" dirty="0">
              <a:latin typeface="Times New Roman" panose="02020603050405020304" pitchFamily="18" charset="0"/>
            </a:rPr>
            <a:t>Flyback</a:t>
          </a:r>
          <a:r>
            <a:rPr kumimoji="1" lang="en-US" sz="1000" b="1" baseline="0" dirty="0">
              <a:latin typeface="Times New Roman" panose="02020603050405020304" pitchFamily="18" charset="0"/>
            </a:rPr>
            <a:t> Diode: </a:t>
          </a:r>
          <a:r>
            <a:rPr lang="en-US" sz="1000" b="0" baseline="0" dirty="0">
              <a:latin typeface="Times New Roman" panose="02020603050405020304" pitchFamily="18" charset="0"/>
            </a:rPr>
            <a:t>Flyback</a:t>
          </a:r>
          <a:r>
            <a:rPr kumimoji="1" lang="en-US" sz="1000" b="0" baseline="0" dirty="0">
              <a:latin typeface="Times New Roman" panose="02020603050405020304" pitchFamily="18" charset="0"/>
            </a:rPr>
            <a:t> diodes used to protect against back EMF</a:t>
          </a:r>
          <a:endParaRPr lang="en-US" sz="1000" baseline="0" dirty="0">
            <a:latin typeface="Times New Roman" panose="02020603050405020304" pitchFamily="18" charset="0"/>
          </a:endParaRPr>
        </a:p>
      </dgm:t>
    </dgm:pt>
    <dgm:pt modelId="{97CC2313-9CD3-4CE0-8A03-14D1C15C7144}" type="parTrans" cxnId="{D4428977-E008-459C-A176-502F1E8B51AD}">
      <dgm:prSet/>
      <dgm:spPr/>
      <dgm:t>
        <a:bodyPr/>
        <a:lstStyle/>
        <a:p>
          <a:endParaRPr lang="en-US" baseline="0">
            <a:latin typeface="Times New Roman" panose="02020603050405020304" pitchFamily="18" charset="0"/>
          </a:endParaRPr>
        </a:p>
      </dgm:t>
    </dgm:pt>
    <dgm:pt modelId="{25E52363-9ACF-446E-970B-09A06F0B77CF}" type="sibTrans" cxnId="{D4428977-E008-459C-A176-502F1E8B51AD}">
      <dgm:prSet/>
      <dgm:spPr/>
      <dgm:t>
        <a:bodyPr/>
        <a:lstStyle/>
        <a:p>
          <a:pPr>
            <a:lnSpc>
              <a:spcPct val="100000"/>
            </a:lnSpc>
          </a:pPr>
          <a:endParaRPr lang="en-US" baseline="0">
            <a:latin typeface="Times New Roman" panose="02020603050405020304" pitchFamily="18" charset="0"/>
          </a:endParaRPr>
        </a:p>
      </dgm:t>
    </dgm:pt>
    <dgm:pt modelId="{01E139FA-9639-46B2-96C1-89DECB29E03A}">
      <dgm:prSet custT="1"/>
      <dgm:spPr/>
      <dgm:t>
        <a:bodyPr/>
        <a:lstStyle/>
        <a:p>
          <a:pPr>
            <a:lnSpc>
              <a:spcPct val="100000"/>
            </a:lnSpc>
          </a:pPr>
          <a:r>
            <a:rPr kumimoji="1" lang="en-US" sz="1000" b="1" baseline="0">
              <a:solidFill>
                <a:srgbClr val="000000"/>
              </a:solidFill>
              <a:effectLst/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rPr>
            <a:t>Piano socket box &amp; Plug: </a:t>
          </a:r>
          <a:r>
            <a:rPr lang="en-US" sz="1000" baseline="0">
              <a:latin typeface="Times New Roman" panose="02020603050405020304" pitchFamily="18" charset="0"/>
            </a:rPr>
            <a:t>Connected with AC current as load</a:t>
          </a:r>
          <a:endParaRPr lang="en-US" sz="1000" baseline="0"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2129B9-DBFA-401B-BE86-1E714AFEDAC5}" type="parTrans" cxnId="{F5F8CEE9-7AD2-4478-A553-331FACE6FCC5}">
      <dgm:prSet/>
      <dgm:spPr/>
      <dgm:t>
        <a:bodyPr/>
        <a:lstStyle/>
        <a:p>
          <a:endParaRPr lang="en-US" baseline="0">
            <a:latin typeface="Times New Roman" panose="02020603050405020304" pitchFamily="18" charset="0"/>
          </a:endParaRPr>
        </a:p>
      </dgm:t>
    </dgm:pt>
    <dgm:pt modelId="{D16F794E-C62C-4FB9-A7B0-94FC45C073D9}" type="sibTrans" cxnId="{F5F8CEE9-7AD2-4478-A553-331FACE6FCC5}">
      <dgm:prSet/>
      <dgm:spPr/>
      <dgm:t>
        <a:bodyPr/>
        <a:lstStyle/>
        <a:p>
          <a:pPr>
            <a:lnSpc>
              <a:spcPct val="100000"/>
            </a:lnSpc>
          </a:pPr>
          <a:endParaRPr lang="en-US" baseline="0">
            <a:latin typeface="Times New Roman" panose="02020603050405020304" pitchFamily="18" charset="0"/>
          </a:endParaRPr>
        </a:p>
      </dgm:t>
    </dgm:pt>
    <dgm:pt modelId="{AF2A64E2-AA81-49F4-8832-85AA6A5BD8A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1" baseline="0">
              <a:latin typeface="Times New Roman" panose="02020603050405020304" pitchFamily="18" charset="0"/>
            </a:rPr>
            <a:t>Jumper wires: </a:t>
          </a:r>
          <a:r>
            <a:rPr lang="en-US" sz="1000" baseline="0">
              <a:latin typeface="Times New Roman" panose="02020603050405020304" pitchFamily="18" charset="0"/>
            </a:rPr>
            <a:t>Connection between all components</a:t>
          </a:r>
          <a:endParaRPr lang="en-US" sz="1000" b="1" baseline="0">
            <a:latin typeface="Times New Roman" panose="02020603050405020304" pitchFamily="18" charset="0"/>
          </a:endParaRPr>
        </a:p>
      </dgm:t>
    </dgm:pt>
    <dgm:pt modelId="{6FBC00C6-11B2-463C-ABEF-F16B53DDC5F6}" type="parTrans" cxnId="{E5D913C9-BB73-4CD4-9C07-9C87F0701C57}">
      <dgm:prSet/>
      <dgm:spPr/>
      <dgm:t>
        <a:bodyPr/>
        <a:lstStyle/>
        <a:p>
          <a:endParaRPr lang="en-US" baseline="0">
            <a:latin typeface="Times New Roman" panose="02020603050405020304" pitchFamily="18" charset="0"/>
          </a:endParaRPr>
        </a:p>
      </dgm:t>
    </dgm:pt>
    <dgm:pt modelId="{377D9A21-28A5-4BA7-8836-88D80800F766}" type="sibTrans" cxnId="{E5D913C9-BB73-4CD4-9C07-9C87F0701C57}">
      <dgm:prSet/>
      <dgm:spPr/>
      <dgm:t>
        <a:bodyPr/>
        <a:lstStyle/>
        <a:p>
          <a:pPr>
            <a:lnSpc>
              <a:spcPct val="100000"/>
            </a:lnSpc>
          </a:pPr>
          <a:endParaRPr lang="en-US" baseline="0">
            <a:latin typeface="Times New Roman" panose="02020603050405020304" pitchFamily="18" charset="0"/>
          </a:endParaRPr>
        </a:p>
      </dgm:t>
    </dgm:pt>
    <dgm:pt modelId="{B6727DE7-CD02-41D1-8A3C-8DC085762857}" type="pres">
      <dgm:prSet presAssocID="{1022C856-5667-4203-A290-A77F31F5C3D2}" presName="root" presStyleCnt="0">
        <dgm:presLayoutVars>
          <dgm:dir/>
          <dgm:resizeHandles val="exact"/>
        </dgm:presLayoutVars>
      </dgm:prSet>
      <dgm:spPr/>
    </dgm:pt>
    <dgm:pt modelId="{5148622E-A5F2-445F-BAEB-37A4B22091A1}" type="pres">
      <dgm:prSet presAssocID="{1022C856-5667-4203-A290-A77F31F5C3D2}" presName="container" presStyleCnt="0">
        <dgm:presLayoutVars>
          <dgm:dir/>
          <dgm:resizeHandles val="exact"/>
        </dgm:presLayoutVars>
      </dgm:prSet>
      <dgm:spPr/>
    </dgm:pt>
    <dgm:pt modelId="{6C5E56AE-4B35-4DC8-84C3-2E2713E82868}" type="pres">
      <dgm:prSet presAssocID="{B7DD67A3-859B-472B-9FE7-CA07C8221A44}" presName="compNode" presStyleCnt="0"/>
      <dgm:spPr/>
    </dgm:pt>
    <dgm:pt modelId="{1143D0E0-1043-4EBE-B37C-170B49B7956D}" type="pres">
      <dgm:prSet presAssocID="{B7DD67A3-859B-472B-9FE7-CA07C8221A44}" presName="iconBgRect" presStyleLbl="bgShp" presStyleIdx="0" presStyleCnt="5"/>
      <dgm:spPr/>
    </dgm:pt>
    <dgm:pt modelId="{EDAF8301-96D9-4440-A576-67C59740B65E}" type="pres">
      <dgm:prSet presAssocID="{B7DD67A3-859B-472B-9FE7-CA07C8221A4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767914E-1CFF-495A-95F3-408C3286060A}" type="pres">
      <dgm:prSet presAssocID="{B7DD67A3-859B-472B-9FE7-CA07C8221A44}" presName="spaceRect" presStyleCnt="0"/>
      <dgm:spPr/>
    </dgm:pt>
    <dgm:pt modelId="{FDA6D7F2-AC5B-452F-912E-157F9A4F0917}" type="pres">
      <dgm:prSet presAssocID="{B7DD67A3-859B-472B-9FE7-CA07C8221A44}" presName="textRect" presStyleLbl="revTx" presStyleIdx="0" presStyleCnt="5">
        <dgm:presLayoutVars>
          <dgm:chMax val="1"/>
          <dgm:chPref val="1"/>
        </dgm:presLayoutVars>
      </dgm:prSet>
      <dgm:spPr/>
    </dgm:pt>
    <dgm:pt modelId="{02ED4E5A-019D-4489-B655-F5AD226C97B2}" type="pres">
      <dgm:prSet presAssocID="{25E5B177-36DC-4AAE-9EB2-D651B2D589DF}" presName="sibTrans" presStyleLbl="sibTrans2D1" presStyleIdx="0" presStyleCnt="0"/>
      <dgm:spPr/>
    </dgm:pt>
    <dgm:pt modelId="{B6581CF4-4720-4843-99B2-C248B464A2B0}" type="pres">
      <dgm:prSet presAssocID="{DB54F447-FAEC-44FB-BB46-247F0DA6472A}" presName="compNode" presStyleCnt="0"/>
      <dgm:spPr/>
    </dgm:pt>
    <dgm:pt modelId="{5A1BD51A-BF5A-4CA0-86C6-1299A74E3199}" type="pres">
      <dgm:prSet presAssocID="{DB54F447-FAEC-44FB-BB46-247F0DA6472A}" presName="iconBgRect" presStyleLbl="bgShp" presStyleIdx="1" presStyleCnt="5"/>
      <dgm:spPr/>
    </dgm:pt>
    <dgm:pt modelId="{8F544A5A-E00E-458D-A746-D581288C7515}" type="pres">
      <dgm:prSet presAssocID="{DB54F447-FAEC-44FB-BB46-247F0DA6472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877E8C9E-B519-49D7-A238-FED3CEBE270E}" type="pres">
      <dgm:prSet presAssocID="{DB54F447-FAEC-44FB-BB46-247F0DA6472A}" presName="spaceRect" presStyleCnt="0"/>
      <dgm:spPr/>
    </dgm:pt>
    <dgm:pt modelId="{7DB4B981-2D4E-47A9-9314-5560767802F1}" type="pres">
      <dgm:prSet presAssocID="{DB54F447-FAEC-44FB-BB46-247F0DA6472A}" presName="textRect" presStyleLbl="revTx" presStyleIdx="1" presStyleCnt="5">
        <dgm:presLayoutVars>
          <dgm:chMax val="1"/>
          <dgm:chPref val="1"/>
        </dgm:presLayoutVars>
      </dgm:prSet>
      <dgm:spPr/>
    </dgm:pt>
    <dgm:pt modelId="{76215CDF-1483-4370-8414-3DCF95656096}" type="pres">
      <dgm:prSet presAssocID="{BA5A1EDE-2FA6-4015-AA03-5EAD5CE62403}" presName="sibTrans" presStyleLbl="sibTrans2D1" presStyleIdx="0" presStyleCnt="0"/>
      <dgm:spPr/>
    </dgm:pt>
    <dgm:pt modelId="{1346385E-0D48-41F9-914E-00B193466706}" type="pres">
      <dgm:prSet presAssocID="{AF2A64E2-AA81-49F4-8832-85AA6A5BD8A3}" presName="compNode" presStyleCnt="0"/>
      <dgm:spPr/>
    </dgm:pt>
    <dgm:pt modelId="{4CBA6C75-2C7F-4A57-972D-5C901E0FDFE2}" type="pres">
      <dgm:prSet presAssocID="{AF2A64E2-AA81-49F4-8832-85AA6A5BD8A3}" presName="iconBgRect" presStyleLbl="bgShp" presStyleIdx="2" presStyleCnt="5"/>
      <dgm:spPr/>
    </dgm:pt>
    <dgm:pt modelId="{3C62D611-F866-42FD-921B-6FB7A4BE4C16}" type="pres">
      <dgm:prSet presAssocID="{AF2A64E2-AA81-49F4-8832-85AA6A5BD8A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A4C6026-AE1E-437F-A439-89D2B46607F2}" type="pres">
      <dgm:prSet presAssocID="{AF2A64E2-AA81-49F4-8832-85AA6A5BD8A3}" presName="spaceRect" presStyleCnt="0"/>
      <dgm:spPr/>
    </dgm:pt>
    <dgm:pt modelId="{732144B9-E6F5-497D-81B5-EB87F347180F}" type="pres">
      <dgm:prSet presAssocID="{AF2A64E2-AA81-49F4-8832-85AA6A5BD8A3}" presName="textRect" presStyleLbl="revTx" presStyleIdx="2" presStyleCnt="5">
        <dgm:presLayoutVars>
          <dgm:chMax val="1"/>
          <dgm:chPref val="1"/>
        </dgm:presLayoutVars>
      </dgm:prSet>
      <dgm:spPr/>
    </dgm:pt>
    <dgm:pt modelId="{19F65462-8D5B-4C65-A9EA-5FE92349AC2E}" type="pres">
      <dgm:prSet presAssocID="{377D9A21-28A5-4BA7-8836-88D80800F766}" presName="sibTrans" presStyleLbl="sibTrans2D1" presStyleIdx="0" presStyleCnt="0"/>
      <dgm:spPr/>
    </dgm:pt>
    <dgm:pt modelId="{2A989914-F700-4B53-86AD-AA406A432F5F}" type="pres">
      <dgm:prSet presAssocID="{01E139FA-9639-46B2-96C1-89DECB29E03A}" presName="compNode" presStyleCnt="0"/>
      <dgm:spPr/>
    </dgm:pt>
    <dgm:pt modelId="{80055EC8-BB24-4D96-8DA3-2FB4F1F135B9}" type="pres">
      <dgm:prSet presAssocID="{01E139FA-9639-46B2-96C1-89DECB29E03A}" presName="iconBgRect" presStyleLbl="bgShp" presStyleIdx="3" presStyleCnt="5"/>
      <dgm:spPr/>
    </dgm:pt>
    <dgm:pt modelId="{4CE1F953-A268-4240-9C90-6FC77A7B3419}" type="pres">
      <dgm:prSet presAssocID="{01E139FA-9639-46B2-96C1-89DECB29E03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ano"/>
        </a:ext>
      </dgm:extLst>
    </dgm:pt>
    <dgm:pt modelId="{FBF6C747-6DDF-415E-A949-AF4FC95E17E5}" type="pres">
      <dgm:prSet presAssocID="{01E139FA-9639-46B2-96C1-89DECB29E03A}" presName="spaceRect" presStyleCnt="0"/>
      <dgm:spPr/>
    </dgm:pt>
    <dgm:pt modelId="{A7A578EB-3270-45F7-BA3B-33AFB770482E}" type="pres">
      <dgm:prSet presAssocID="{01E139FA-9639-46B2-96C1-89DECB29E03A}" presName="textRect" presStyleLbl="revTx" presStyleIdx="3" presStyleCnt="5">
        <dgm:presLayoutVars>
          <dgm:chMax val="1"/>
          <dgm:chPref val="1"/>
        </dgm:presLayoutVars>
      </dgm:prSet>
      <dgm:spPr/>
    </dgm:pt>
    <dgm:pt modelId="{49A31746-C15F-400B-AACA-5569D1CC2A31}" type="pres">
      <dgm:prSet presAssocID="{D16F794E-C62C-4FB9-A7B0-94FC45C073D9}" presName="sibTrans" presStyleLbl="sibTrans2D1" presStyleIdx="0" presStyleCnt="0"/>
      <dgm:spPr/>
    </dgm:pt>
    <dgm:pt modelId="{A70104F3-3679-4446-9BE8-612401CA2907}" type="pres">
      <dgm:prSet presAssocID="{CCAA6394-61B5-4707-A6AE-21DC04E5890B}" presName="compNode" presStyleCnt="0"/>
      <dgm:spPr/>
    </dgm:pt>
    <dgm:pt modelId="{E2C43A90-6CFE-493E-ADEF-112FAF244579}" type="pres">
      <dgm:prSet presAssocID="{CCAA6394-61B5-4707-A6AE-21DC04E5890B}" presName="iconBgRect" presStyleLbl="bgShp" presStyleIdx="4" presStyleCnt="5"/>
      <dgm:spPr/>
    </dgm:pt>
    <dgm:pt modelId="{955AFB4E-4811-44B1-9C41-8F9C2A346E1A}" type="pres">
      <dgm:prSet presAssocID="{CCAA6394-61B5-4707-A6AE-21DC04E5890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F7A11F66-907C-4604-87D2-AFD6C07906C6}" type="pres">
      <dgm:prSet presAssocID="{CCAA6394-61B5-4707-A6AE-21DC04E5890B}" presName="spaceRect" presStyleCnt="0"/>
      <dgm:spPr/>
    </dgm:pt>
    <dgm:pt modelId="{6B6C6F23-4EE4-43E7-883D-034B92ADB712}" type="pres">
      <dgm:prSet presAssocID="{CCAA6394-61B5-4707-A6AE-21DC04E5890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FD41A03-3713-414C-B618-FA7FA145E59E}" type="presOf" srcId="{1022C856-5667-4203-A290-A77F31F5C3D2}" destId="{B6727DE7-CD02-41D1-8A3C-8DC085762857}" srcOrd="0" destOrd="0" presId="urn:microsoft.com/office/officeart/2018/2/layout/IconCircleList"/>
    <dgm:cxn modelId="{561C8614-E98F-4F2F-B23A-A341F2E32C5C}" type="presOf" srcId="{DB54F447-FAEC-44FB-BB46-247F0DA6472A}" destId="{7DB4B981-2D4E-47A9-9314-5560767802F1}" srcOrd="0" destOrd="0" presId="urn:microsoft.com/office/officeart/2018/2/layout/IconCircleList"/>
    <dgm:cxn modelId="{506C9B26-D0B8-45C3-9412-B4BFFFE9BC72}" srcId="{1022C856-5667-4203-A290-A77F31F5C3D2}" destId="{B7DD67A3-859B-472B-9FE7-CA07C8221A44}" srcOrd="0" destOrd="0" parTransId="{FB9AF5F4-AC34-4AA8-AA7F-4255BAE3EE46}" sibTransId="{25E5B177-36DC-4AAE-9EB2-D651B2D589DF}"/>
    <dgm:cxn modelId="{F1789136-CB32-4500-9EC9-CE55C00FA0AE}" type="presOf" srcId="{B7DD67A3-859B-472B-9FE7-CA07C8221A44}" destId="{FDA6D7F2-AC5B-452F-912E-157F9A4F0917}" srcOrd="0" destOrd="0" presId="urn:microsoft.com/office/officeart/2018/2/layout/IconCircleList"/>
    <dgm:cxn modelId="{1D5D2B4D-8077-44B7-9309-F837E25E2094}" type="presOf" srcId="{BA5A1EDE-2FA6-4015-AA03-5EAD5CE62403}" destId="{76215CDF-1483-4370-8414-3DCF95656096}" srcOrd="0" destOrd="0" presId="urn:microsoft.com/office/officeart/2018/2/layout/IconCircleList"/>
    <dgm:cxn modelId="{D4428977-E008-459C-A176-502F1E8B51AD}" srcId="{1022C856-5667-4203-A290-A77F31F5C3D2}" destId="{CCAA6394-61B5-4707-A6AE-21DC04E5890B}" srcOrd="4" destOrd="0" parTransId="{97CC2313-9CD3-4CE0-8A03-14D1C15C7144}" sibTransId="{25E52363-9ACF-446E-970B-09A06F0B77CF}"/>
    <dgm:cxn modelId="{F4260E80-9BFA-4293-B86E-495A4C2F48D1}" type="presOf" srcId="{25E5B177-36DC-4AAE-9EB2-D651B2D589DF}" destId="{02ED4E5A-019D-4489-B655-F5AD226C97B2}" srcOrd="0" destOrd="0" presId="urn:microsoft.com/office/officeart/2018/2/layout/IconCircleList"/>
    <dgm:cxn modelId="{1E5EE08F-786B-4968-96EA-9F27BC21E854}" type="presOf" srcId="{377D9A21-28A5-4BA7-8836-88D80800F766}" destId="{19F65462-8D5B-4C65-A9EA-5FE92349AC2E}" srcOrd="0" destOrd="0" presId="urn:microsoft.com/office/officeart/2018/2/layout/IconCircleList"/>
    <dgm:cxn modelId="{E9227EB3-D51A-4922-A408-973D70C667B8}" type="presOf" srcId="{01E139FA-9639-46B2-96C1-89DECB29E03A}" destId="{A7A578EB-3270-45F7-BA3B-33AFB770482E}" srcOrd="0" destOrd="0" presId="urn:microsoft.com/office/officeart/2018/2/layout/IconCircleList"/>
    <dgm:cxn modelId="{E5D913C9-BB73-4CD4-9C07-9C87F0701C57}" srcId="{1022C856-5667-4203-A290-A77F31F5C3D2}" destId="{AF2A64E2-AA81-49F4-8832-85AA6A5BD8A3}" srcOrd="2" destOrd="0" parTransId="{6FBC00C6-11B2-463C-ABEF-F16B53DDC5F6}" sibTransId="{377D9A21-28A5-4BA7-8836-88D80800F766}"/>
    <dgm:cxn modelId="{C0C72DCD-D86B-459A-8D1F-7CAA2740933E}" type="presOf" srcId="{CCAA6394-61B5-4707-A6AE-21DC04E5890B}" destId="{6B6C6F23-4EE4-43E7-883D-034B92ADB712}" srcOrd="0" destOrd="0" presId="urn:microsoft.com/office/officeart/2018/2/layout/IconCircleList"/>
    <dgm:cxn modelId="{80340FDD-CE33-467B-B245-5F3093063879}" type="presOf" srcId="{D16F794E-C62C-4FB9-A7B0-94FC45C073D9}" destId="{49A31746-C15F-400B-AACA-5569D1CC2A31}" srcOrd="0" destOrd="0" presId="urn:microsoft.com/office/officeart/2018/2/layout/IconCircleList"/>
    <dgm:cxn modelId="{B1AF5BDE-E351-4F0D-972E-B16724F3C058}" type="presOf" srcId="{AF2A64E2-AA81-49F4-8832-85AA6A5BD8A3}" destId="{732144B9-E6F5-497D-81B5-EB87F347180F}" srcOrd="0" destOrd="0" presId="urn:microsoft.com/office/officeart/2018/2/layout/IconCircleList"/>
    <dgm:cxn modelId="{F5F8CEE9-7AD2-4478-A553-331FACE6FCC5}" srcId="{1022C856-5667-4203-A290-A77F31F5C3D2}" destId="{01E139FA-9639-46B2-96C1-89DECB29E03A}" srcOrd="3" destOrd="0" parTransId="{B02129B9-DBFA-401B-BE86-1E714AFEDAC5}" sibTransId="{D16F794E-C62C-4FB9-A7B0-94FC45C073D9}"/>
    <dgm:cxn modelId="{466A5CEF-FA9D-4E45-AF6B-D0AC0C0D714D}" srcId="{1022C856-5667-4203-A290-A77F31F5C3D2}" destId="{DB54F447-FAEC-44FB-BB46-247F0DA6472A}" srcOrd="1" destOrd="0" parTransId="{A8244DA0-0721-4470-996A-32CDB5FDC847}" sibTransId="{BA5A1EDE-2FA6-4015-AA03-5EAD5CE62403}"/>
    <dgm:cxn modelId="{D1EC4133-10F7-4083-9AA2-15A1E4D2E906}" type="presParOf" srcId="{B6727DE7-CD02-41D1-8A3C-8DC085762857}" destId="{5148622E-A5F2-445F-BAEB-37A4B22091A1}" srcOrd="0" destOrd="0" presId="urn:microsoft.com/office/officeart/2018/2/layout/IconCircleList"/>
    <dgm:cxn modelId="{CCE70008-0E20-4686-8354-54068F851352}" type="presParOf" srcId="{5148622E-A5F2-445F-BAEB-37A4B22091A1}" destId="{6C5E56AE-4B35-4DC8-84C3-2E2713E82868}" srcOrd="0" destOrd="0" presId="urn:microsoft.com/office/officeart/2018/2/layout/IconCircleList"/>
    <dgm:cxn modelId="{D5312BF3-38B8-4732-9CA4-F18A4E0C1E29}" type="presParOf" srcId="{6C5E56AE-4B35-4DC8-84C3-2E2713E82868}" destId="{1143D0E0-1043-4EBE-B37C-170B49B7956D}" srcOrd="0" destOrd="0" presId="urn:microsoft.com/office/officeart/2018/2/layout/IconCircleList"/>
    <dgm:cxn modelId="{D90B80AA-5699-4545-A05C-CC174962A79C}" type="presParOf" srcId="{6C5E56AE-4B35-4DC8-84C3-2E2713E82868}" destId="{EDAF8301-96D9-4440-A576-67C59740B65E}" srcOrd="1" destOrd="0" presId="urn:microsoft.com/office/officeart/2018/2/layout/IconCircleList"/>
    <dgm:cxn modelId="{F3F9DD6D-E20A-45B8-B08C-E7C7F0E36C7C}" type="presParOf" srcId="{6C5E56AE-4B35-4DC8-84C3-2E2713E82868}" destId="{3767914E-1CFF-495A-95F3-408C3286060A}" srcOrd="2" destOrd="0" presId="urn:microsoft.com/office/officeart/2018/2/layout/IconCircleList"/>
    <dgm:cxn modelId="{7260F7E1-8BB0-4A01-ABAB-025619DA34EB}" type="presParOf" srcId="{6C5E56AE-4B35-4DC8-84C3-2E2713E82868}" destId="{FDA6D7F2-AC5B-452F-912E-157F9A4F0917}" srcOrd="3" destOrd="0" presId="urn:microsoft.com/office/officeart/2018/2/layout/IconCircleList"/>
    <dgm:cxn modelId="{86E47406-E103-48B4-9B73-861004A7F692}" type="presParOf" srcId="{5148622E-A5F2-445F-BAEB-37A4B22091A1}" destId="{02ED4E5A-019D-4489-B655-F5AD226C97B2}" srcOrd="1" destOrd="0" presId="urn:microsoft.com/office/officeart/2018/2/layout/IconCircleList"/>
    <dgm:cxn modelId="{5F9D0B67-9022-463C-80F5-B2D0DA1BA527}" type="presParOf" srcId="{5148622E-A5F2-445F-BAEB-37A4B22091A1}" destId="{B6581CF4-4720-4843-99B2-C248B464A2B0}" srcOrd="2" destOrd="0" presId="urn:microsoft.com/office/officeart/2018/2/layout/IconCircleList"/>
    <dgm:cxn modelId="{FA4ABFAF-0FCB-4248-9162-F8BA531AED4B}" type="presParOf" srcId="{B6581CF4-4720-4843-99B2-C248B464A2B0}" destId="{5A1BD51A-BF5A-4CA0-86C6-1299A74E3199}" srcOrd="0" destOrd="0" presId="urn:microsoft.com/office/officeart/2018/2/layout/IconCircleList"/>
    <dgm:cxn modelId="{4FCB44A4-4DC3-471A-8F0D-A45536124632}" type="presParOf" srcId="{B6581CF4-4720-4843-99B2-C248B464A2B0}" destId="{8F544A5A-E00E-458D-A746-D581288C7515}" srcOrd="1" destOrd="0" presId="urn:microsoft.com/office/officeart/2018/2/layout/IconCircleList"/>
    <dgm:cxn modelId="{D78EF615-9D73-4C75-AFA8-EEDD84F34BC3}" type="presParOf" srcId="{B6581CF4-4720-4843-99B2-C248B464A2B0}" destId="{877E8C9E-B519-49D7-A238-FED3CEBE270E}" srcOrd="2" destOrd="0" presId="urn:microsoft.com/office/officeart/2018/2/layout/IconCircleList"/>
    <dgm:cxn modelId="{CA557E25-75EC-4358-8120-942F25258038}" type="presParOf" srcId="{B6581CF4-4720-4843-99B2-C248B464A2B0}" destId="{7DB4B981-2D4E-47A9-9314-5560767802F1}" srcOrd="3" destOrd="0" presId="urn:microsoft.com/office/officeart/2018/2/layout/IconCircleList"/>
    <dgm:cxn modelId="{D6C14398-1FC4-4D23-A145-52B947D1BDEA}" type="presParOf" srcId="{5148622E-A5F2-445F-BAEB-37A4B22091A1}" destId="{76215CDF-1483-4370-8414-3DCF95656096}" srcOrd="3" destOrd="0" presId="urn:microsoft.com/office/officeart/2018/2/layout/IconCircleList"/>
    <dgm:cxn modelId="{2C230D81-B897-4D26-B1C0-B33FBC38E7C6}" type="presParOf" srcId="{5148622E-A5F2-445F-BAEB-37A4B22091A1}" destId="{1346385E-0D48-41F9-914E-00B193466706}" srcOrd="4" destOrd="0" presId="urn:microsoft.com/office/officeart/2018/2/layout/IconCircleList"/>
    <dgm:cxn modelId="{D38F1C93-663C-4B32-B7C5-F7D12815B9B7}" type="presParOf" srcId="{1346385E-0D48-41F9-914E-00B193466706}" destId="{4CBA6C75-2C7F-4A57-972D-5C901E0FDFE2}" srcOrd="0" destOrd="0" presId="urn:microsoft.com/office/officeart/2018/2/layout/IconCircleList"/>
    <dgm:cxn modelId="{9FFF2487-84B3-49D4-B9D5-E942D4D4646F}" type="presParOf" srcId="{1346385E-0D48-41F9-914E-00B193466706}" destId="{3C62D611-F866-42FD-921B-6FB7A4BE4C16}" srcOrd="1" destOrd="0" presId="urn:microsoft.com/office/officeart/2018/2/layout/IconCircleList"/>
    <dgm:cxn modelId="{31267250-EAF1-43AD-ACE8-A43072C90153}" type="presParOf" srcId="{1346385E-0D48-41F9-914E-00B193466706}" destId="{DA4C6026-AE1E-437F-A439-89D2B46607F2}" srcOrd="2" destOrd="0" presId="urn:microsoft.com/office/officeart/2018/2/layout/IconCircleList"/>
    <dgm:cxn modelId="{DDD837D8-7113-4FA2-887C-B2548466BA12}" type="presParOf" srcId="{1346385E-0D48-41F9-914E-00B193466706}" destId="{732144B9-E6F5-497D-81B5-EB87F347180F}" srcOrd="3" destOrd="0" presId="urn:microsoft.com/office/officeart/2018/2/layout/IconCircleList"/>
    <dgm:cxn modelId="{9935E3D8-2C50-481E-A155-5CCC7E0D847E}" type="presParOf" srcId="{5148622E-A5F2-445F-BAEB-37A4B22091A1}" destId="{19F65462-8D5B-4C65-A9EA-5FE92349AC2E}" srcOrd="5" destOrd="0" presId="urn:microsoft.com/office/officeart/2018/2/layout/IconCircleList"/>
    <dgm:cxn modelId="{41D13BA0-F80B-40E6-BBBA-080A3E6DA616}" type="presParOf" srcId="{5148622E-A5F2-445F-BAEB-37A4B22091A1}" destId="{2A989914-F700-4B53-86AD-AA406A432F5F}" srcOrd="6" destOrd="0" presId="urn:microsoft.com/office/officeart/2018/2/layout/IconCircleList"/>
    <dgm:cxn modelId="{446BD8D3-6AE3-45A7-8897-A315539AF637}" type="presParOf" srcId="{2A989914-F700-4B53-86AD-AA406A432F5F}" destId="{80055EC8-BB24-4D96-8DA3-2FB4F1F135B9}" srcOrd="0" destOrd="0" presId="urn:microsoft.com/office/officeart/2018/2/layout/IconCircleList"/>
    <dgm:cxn modelId="{6B094E63-DA2F-4D27-8428-C35057CF60AA}" type="presParOf" srcId="{2A989914-F700-4B53-86AD-AA406A432F5F}" destId="{4CE1F953-A268-4240-9C90-6FC77A7B3419}" srcOrd="1" destOrd="0" presId="urn:microsoft.com/office/officeart/2018/2/layout/IconCircleList"/>
    <dgm:cxn modelId="{856D566C-23EE-4249-B2F9-1916BFA3CA11}" type="presParOf" srcId="{2A989914-F700-4B53-86AD-AA406A432F5F}" destId="{FBF6C747-6DDF-415E-A949-AF4FC95E17E5}" srcOrd="2" destOrd="0" presId="urn:microsoft.com/office/officeart/2018/2/layout/IconCircleList"/>
    <dgm:cxn modelId="{5164BF72-ECD2-4FB6-9570-45AF41B654DE}" type="presParOf" srcId="{2A989914-F700-4B53-86AD-AA406A432F5F}" destId="{A7A578EB-3270-45F7-BA3B-33AFB770482E}" srcOrd="3" destOrd="0" presId="urn:microsoft.com/office/officeart/2018/2/layout/IconCircleList"/>
    <dgm:cxn modelId="{CA76FCF0-D47A-454A-9482-AC8DB5704681}" type="presParOf" srcId="{5148622E-A5F2-445F-BAEB-37A4B22091A1}" destId="{49A31746-C15F-400B-AACA-5569D1CC2A31}" srcOrd="7" destOrd="0" presId="urn:microsoft.com/office/officeart/2018/2/layout/IconCircleList"/>
    <dgm:cxn modelId="{4B72B216-E48C-4759-9657-A4BC72D2D843}" type="presParOf" srcId="{5148622E-A5F2-445F-BAEB-37A4B22091A1}" destId="{A70104F3-3679-4446-9BE8-612401CA2907}" srcOrd="8" destOrd="0" presId="urn:microsoft.com/office/officeart/2018/2/layout/IconCircleList"/>
    <dgm:cxn modelId="{E0622D04-5961-4261-8AF9-3E6F1A8AD10F}" type="presParOf" srcId="{A70104F3-3679-4446-9BE8-612401CA2907}" destId="{E2C43A90-6CFE-493E-ADEF-112FAF244579}" srcOrd="0" destOrd="0" presId="urn:microsoft.com/office/officeart/2018/2/layout/IconCircleList"/>
    <dgm:cxn modelId="{8C1544EC-23CF-4D57-9B4B-FD9FC8E1B3FF}" type="presParOf" srcId="{A70104F3-3679-4446-9BE8-612401CA2907}" destId="{955AFB4E-4811-44B1-9C41-8F9C2A346E1A}" srcOrd="1" destOrd="0" presId="urn:microsoft.com/office/officeart/2018/2/layout/IconCircleList"/>
    <dgm:cxn modelId="{C4B47312-448F-4F31-AD2C-5607A5530432}" type="presParOf" srcId="{A70104F3-3679-4446-9BE8-612401CA2907}" destId="{F7A11F66-907C-4604-87D2-AFD6C07906C6}" srcOrd="2" destOrd="0" presId="urn:microsoft.com/office/officeart/2018/2/layout/IconCircleList"/>
    <dgm:cxn modelId="{EB26D171-BF31-43D5-A56E-078510C3DAE2}" type="presParOf" srcId="{A70104F3-3679-4446-9BE8-612401CA2907}" destId="{6B6C6F23-4EE4-43E7-883D-034B92ADB71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43D0E0-1043-4EBE-B37C-170B49B7956D}">
      <dsp:nvSpPr>
        <dsp:cNvPr id="0" name=""/>
        <dsp:cNvSpPr/>
      </dsp:nvSpPr>
      <dsp:spPr>
        <a:xfrm>
          <a:off x="21818" y="373397"/>
          <a:ext cx="652103" cy="6521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AF8301-96D9-4440-A576-67C59740B65E}">
      <dsp:nvSpPr>
        <dsp:cNvPr id="0" name=""/>
        <dsp:cNvSpPr/>
      </dsp:nvSpPr>
      <dsp:spPr>
        <a:xfrm>
          <a:off x="158759" y="510338"/>
          <a:ext cx="378220" cy="3782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A6D7F2-AC5B-452F-912E-157F9A4F0917}">
      <dsp:nvSpPr>
        <dsp:cNvPr id="0" name=""/>
        <dsp:cNvSpPr/>
      </dsp:nvSpPr>
      <dsp:spPr>
        <a:xfrm>
          <a:off x="813658" y="373397"/>
          <a:ext cx="1537101" cy="652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baseline="0" dirty="0">
              <a:latin typeface="Times New Roman" panose="02020603050405020304" pitchFamily="18" charset="0"/>
            </a:rPr>
            <a:t>BC547 (NPN transistor): </a:t>
          </a:r>
          <a:r>
            <a:rPr kumimoji="1" lang="en-US" sz="1000" b="0" kern="1200" baseline="0" dirty="0">
              <a:latin typeface="Times New Roman" panose="02020603050405020304" pitchFamily="18" charset="0"/>
            </a:rPr>
            <a:t>Relays driven </a:t>
          </a:r>
          <a:r>
            <a:rPr lang="en-US" sz="1000" b="0" kern="1200" baseline="0" dirty="0">
              <a:latin typeface="Times New Roman" panose="02020603050405020304" pitchFamily="18" charset="0"/>
            </a:rPr>
            <a:t>using</a:t>
          </a:r>
          <a:r>
            <a:rPr kumimoji="1" lang="en-US" sz="1000" b="0" kern="1200" baseline="0" dirty="0">
              <a:latin typeface="Times New Roman" panose="02020603050405020304" pitchFamily="18" charset="0"/>
            </a:rPr>
            <a:t> BC547 NPN </a:t>
          </a:r>
          <a:r>
            <a:rPr lang="en-US" sz="1000" b="0" kern="1200" baseline="0" dirty="0">
              <a:latin typeface="Times New Roman" panose="02020603050405020304" pitchFamily="18" charset="0"/>
            </a:rPr>
            <a:t>transistors</a:t>
          </a:r>
          <a:r>
            <a:rPr lang="en-US" sz="1000" b="1" kern="1200" baseline="0" dirty="0">
              <a:latin typeface="Times New Roman" panose="02020603050405020304" pitchFamily="18" charset="0"/>
            </a:rPr>
            <a:t>  </a:t>
          </a:r>
        </a:p>
      </dsp:txBody>
      <dsp:txXfrm>
        <a:off x="813658" y="373397"/>
        <a:ext cx="1537101" cy="652103"/>
      </dsp:txXfrm>
    </dsp:sp>
    <dsp:sp modelId="{5A1BD51A-BF5A-4CA0-86C6-1299A74E3199}">
      <dsp:nvSpPr>
        <dsp:cNvPr id="0" name=""/>
        <dsp:cNvSpPr/>
      </dsp:nvSpPr>
      <dsp:spPr>
        <a:xfrm>
          <a:off x="2618587" y="373397"/>
          <a:ext cx="652103" cy="6521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544A5A-E00E-458D-A746-D581288C7515}">
      <dsp:nvSpPr>
        <dsp:cNvPr id="0" name=""/>
        <dsp:cNvSpPr/>
      </dsp:nvSpPr>
      <dsp:spPr>
        <a:xfrm>
          <a:off x="2755529" y="510338"/>
          <a:ext cx="378220" cy="3782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B4B981-2D4E-47A9-9314-5560767802F1}">
      <dsp:nvSpPr>
        <dsp:cNvPr id="0" name=""/>
        <dsp:cNvSpPr/>
      </dsp:nvSpPr>
      <dsp:spPr>
        <a:xfrm>
          <a:off x="3410427" y="373397"/>
          <a:ext cx="1537101" cy="652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baseline="0" dirty="0">
              <a:latin typeface="Times New Roman" panose="02020603050405020304" pitchFamily="18" charset="0"/>
            </a:rPr>
            <a:t>5k</a:t>
          </a:r>
          <a:r>
            <a:rPr kumimoji="1" lang="en-US" sz="1000" b="1" kern="1200" baseline="0" dirty="0">
              <a:latin typeface="Times New Roman" panose="02020603050405020304" pitchFamily="18" charset="0"/>
            </a:rPr>
            <a:t> ohm (Resistor): </a:t>
          </a:r>
          <a:r>
            <a:rPr lang="en-US" sz="1000" kern="1200" baseline="0" dirty="0">
              <a:latin typeface="Times New Roman" panose="02020603050405020304" pitchFamily="18" charset="0"/>
            </a:rPr>
            <a:t>ESP32 GPIO → resistor → transistor base</a:t>
          </a:r>
        </a:p>
      </dsp:txBody>
      <dsp:txXfrm>
        <a:off x="3410427" y="373397"/>
        <a:ext cx="1537101" cy="652103"/>
      </dsp:txXfrm>
    </dsp:sp>
    <dsp:sp modelId="{4CBA6C75-2C7F-4A57-972D-5C901E0FDFE2}">
      <dsp:nvSpPr>
        <dsp:cNvPr id="0" name=""/>
        <dsp:cNvSpPr/>
      </dsp:nvSpPr>
      <dsp:spPr>
        <a:xfrm>
          <a:off x="5215356" y="373397"/>
          <a:ext cx="652103" cy="6521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62D611-F866-42FD-921B-6FB7A4BE4C16}">
      <dsp:nvSpPr>
        <dsp:cNvPr id="0" name=""/>
        <dsp:cNvSpPr/>
      </dsp:nvSpPr>
      <dsp:spPr>
        <a:xfrm>
          <a:off x="5352298" y="510338"/>
          <a:ext cx="378220" cy="3782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2144B9-E6F5-497D-81B5-EB87F347180F}">
      <dsp:nvSpPr>
        <dsp:cNvPr id="0" name=""/>
        <dsp:cNvSpPr/>
      </dsp:nvSpPr>
      <dsp:spPr>
        <a:xfrm>
          <a:off x="6007196" y="373397"/>
          <a:ext cx="1537101" cy="652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baseline="0">
              <a:latin typeface="Times New Roman" panose="02020603050405020304" pitchFamily="18" charset="0"/>
            </a:rPr>
            <a:t>Jumper wires: </a:t>
          </a:r>
          <a:r>
            <a:rPr lang="en-US" sz="1000" kern="1200" baseline="0">
              <a:latin typeface="Times New Roman" panose="02020603050405020304" pitchFamily="18" charset="0"/>
            </a:rPr>
            <a:t>Connection between all components</a:t>
          </a:r>
          <a:endParaRPr lang="en-US" sz="1000" b="1" kern="1200" baseline="0">
            <a:latin typeface="Times New Roman" panose="02020603050405020304" pitchFamily="18" charset="0"/>
          </a:endParaRPr>
        </a:p>
      </dsp:txBody>
      <dsp:txXfrm>
        <a:off x="6007196" y="373397"/>
        <a:ext cx="1537101" cy="652103"/>
      </dsp:txXfrm>
    </dsp:sp>
    <dsp:sp modelId="{80055EC8-BB24-4D96-8DA3-2FB4F1F135B9}">
      <dsp:nvSpPr>
        <dsp:cNvPr id="0" name=""/>
        <dsp:cNvSpPr/>
      </dsp:nvSpPr>
      <dsp:spPr>
        <a:xfrm>
          <a:off x="21818" y="1445585"/>
          <a:ext cx="652103" cy="6521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E1F953-A268-4240-9C90-6FC77A7B3419}">
      <dsp:nvSpPr>
        <dsp:cNvPr id="0" name=""/>
        <dsp:cNvSpPr/>
      </dsp:nvSpPr>
      <dsp:spPr>
        <a:xfrm>
          <a:off x="158759" y="1582527"/>
          <a:ext cx="378220" cy="3782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A578EB-3270-45F7-BA3B-33AFB770482E}">
      <dsp:nvSpPr>
        <dsp:cNvPr id="0" name=""/>
        <dsp:cNvSpPr/>
      </dsp:nvSpPr>
      <dsp:spPr>
        <a:xfrm>
          <a:off x="813658" y="1445585"/>
          <a:ext cx="1537101" cy="652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000" b="1" kern="1200" baseline="0">
              <a:solidFill>
                <a:srgbClr val="000000"/>
              </a:solidFill>
              <a:effectLst/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rPr>
            <a:t>Piano socket box &amp; Plug: </a:t>
          </a:r>
          <a:r>
            <a:rPr lang="en-US" sz="1000" kern="1200" baseline="0">
              <a:latin typeface="Times New Roman" panose="02020603050405020304" pitchFamily="18" charset="0"/>
            </a:rPr>
            <a:t>Connected with AC current as load</a:t>
          </a:r>
          <a:endParaRPr lang="en-US" sz="1000" kern="1200" baseline="0"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13658" y="1445585"/>
        <a:ext cx="1537101" cy="652103"/>
      </dsp:txXfrm>
    </dsp:sp>
    <dsp:sp modelId="{E2C43A90-6CFE-493E-ADEF-112FAF244579}">
      <dsp:nvSpPr>
        <dsp:cNvPr id="0" name=""/>
        <dsp:cNvSpPr/>
      </dsp:nvSpPr>
      <dsp:spPr>
        <a:xfrm>
          <a:off x="2618587" y="1445585"/>
          <a:ext cx="652103" cy="6521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5AFB4E-4811-44B1-9C41-8F9C2A346E1A}">
      <dsp:nvSpPr>
        <dsp:cNvPr id="0" name=""/>
        <dsp:cNvSpPr/>
      </dsp:nvSpPr>
      <dsp:spPr>
        <a:xfrm>
          <a:off x="2755529" y="1582527"/>
          <a:ext cx="378220" cy="3782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6C6F23-4EE4-43E7-883D-034B92ADB712}">
      <dsp:nvSpPr>
        <dsp:cNvPr id="0" name=""/>
        <dsp:cNvSpPr/>
      </dsp:nvSpPr>
      <dsp:spPr>
        <a:xfrm>
          <a:off x="3410427" y="1445585"/>
          <a:ext cx="1537101" cy="652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baseline="0" dirty="0">
              <a:latin typeface="Times New Roman" panose="02020603050405020304" pitchFamily="18" charset="0"/>
            </a:rPr>
            <a:t>Flyback</a:t>
          </a:r>
          <a:r>
            <a:rPr kumimoji="1" lang="en-US" sz="1000" b="1" kern="1200" baseline="0" dirty="0">
              <a:latin typeface="Times New Roman" panose="02020603050405020304" pitchFamily="18" charset="0"/>
            </a:rPr>
            <a:t> Diode: </a:t>
          </a:r>
          <a:r>
            <a:rPr lang="en-US" sz="1000" b="0" kern="1200" baseline="0" dirty="0">
              <a:latin typeface="Times New Roman" panose="02020603050405020304" pitchFamily="18" charset="0"/>
            </a:rPr>
            <a:t>Flyback</a:t>
          </a:r>
          <a:r>
            <a:rPr kumimoji="1" lang="en-US" sz="1000" b="0" kern="1200" baseline="0" dirty="0">
              <a:latin typeface="Times New Roman" panose="02020603050405020304" pitchFamily="18" charset="0"/>
            </a:rPr>
            <a:t> diodes used to protect against back EMF</a:t>
          </a:r>
          <a:endParaRPr lang="en-US" sz="1000" kern="1200" baseline="0" dirty="0">
            <a:latin typeface="Times New Roman" panose="02020603050405020304" pitchFamily="18" charset="0"/>
          </a:endParaRPr>
        </a:p>
      </dsp:txBody>
      <dsp:txXfrm>
        <a:off x="3410427" y="1445585"/>
        <a:ext cx="1537101" cy="6521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C889D-9EBD-4557-A854-C4A5BFA0BA5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B59BE-046B-4B0B-8C7C-7FB65C8A2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11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B59BE-046B-4B0B-8C7C-7FB65C8A2F1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71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provides real-time monitoring and detailed billing information for efficient power management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B59BE-046B-4B0B-8C7C-7FB65C8A2F1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36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ADBBE67A-F3BD-4AD1-A63E-CC7EABFF4FB2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85524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848095CB-4C96-4416-9669-BC71DC16DEBE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65645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85800" y="2927426"/>
            <a:ext cx="7772400" cy="1362075"/>
          </a:xfrm>
        </p:spPr>
        <p:txBody>
          <a:bodyPr anchor="t"/>
          <a:lstStyle>
            <a:lvl1pPr algn="l">
              <a:defRPr sz="2250" b="0" cap="none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85800" y="4386195"/>
            <a:ext cx="77724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1A57E1F8-F03D-48E0-956F-76F548B0F808}" type="datetime1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EFEDE3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73653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875FD6C9-B7EF-4E66-96EC-F32F419A3D18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34657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2A9CA471-3B56-4A40-8820-843C0A92D33C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8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29303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3C42D339-B6AC-484C-AD71-B1CC945FEB6B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6259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A802B35-03DB-4959-92DD-8D5755C1D0DD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3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760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33028826-690F-43A3-952F-37964C8BF0A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33050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8271" y="719708"/>
            <a:ext cx="2287588" cy="1337695"/>
          </a:xfrm>
        </p:spPr>
        <p:txBody>
          <a:bodyPr anchor="b"/>
          <a:lstStyle>
            <a:lvl1pPr algn="l">
              <a:defRPr sz="1125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 hasCustomPrompt="1"/>
          </p:nvPr>
        </p:nvSpPr>
        <p:spPr>
          <a:xfrm>
            <a:off x="3200400" y="969169"/>
            <a:ext cx="5486400" cy="4370274"/>
          </a:xfrm>
        </p:spPr>
        <p:txBody>
          <a:bodyPr rtlCol="0">
            <a:normAutofit/>
          </a:bodyPr>
          <a:lstStyle>
            <a:lvl1pPr marL="0" indent="0">
              <a:buNone/>
              <a:defRPr sz="18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altLang="ja-JP" noProof="0"/>
              <a:t>Picture</a:t>
            </a:r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2319053"/>
            <a:ext cx="2318657" cy="3020390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8F6514E6-4F03-4C90-A6CF-0F48872A4A05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7696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F39F92B2-AF4F-47D0-84DE-FDFADA682DD9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1507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782296B-27A5-40E4-B6A0-E586032DB02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94756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A4CEAFD3-258C-4B6D-8974-AA6BF4B29246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74653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B1518F21-D86A-4CBB-B550-82F46B0D74B1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89896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85800" y="2927426"/>
            <a:ext cx="7772400" cy="1362075"/>
          </a:xfrm>
        </p:spPr>
        <p:txBody>
          <a:bodyPr anchor="t"/>
          <a:lstStyle>
            <a:lvl1pPr algn="l">
              <a:defRPr sz="2250" b="0" cap="none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85800" y="4386195"/>
            <a:ext cx="77724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43ED8115-A672-453D-8D1A-EC596797BF67}" type="datetime1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EFEDE3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11537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AD6292E9-B531-46C9-BE62-A96D3C71B358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99459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214BC6C4-37CB-4D71-8ED6-C5F52AC47538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8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910076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921055D6-E672-4A07-B5B0-9EFFD3DD238D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258066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EA06D14A-EEA2-4246-90E2-EACE95BEECD8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3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6402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C1C6DBE9-4285-42A8-BD26-C0C586C33BB8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9085933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8271" y="719708"/>
            <a:ext cx="2287588" cy="1337695"/>
          </a:xfrm>
        </p:spPr>
        <p:txBody>
          <a:bodyPr anchor="b"/>
          <a:lstStyle>
            <a:lvl1pPr algn="l">
              <a:defRPr sz="1125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 hasCustomPrompt="1"/>
          </p:nvPr>
        </p:nvSpPr>
        <p:spPr>
          <a:xfrm>
            <a:off x="3200400" y="969169"/>
            <a:ext cx="5486400" cy="4370274"/>
          </a:xfrm>
        </p:spPr>
        <p:txBody>
          <a:bodyPr rtlCol="0">
            <a:normAutofit/>
          </a:bodyPr>
          <a:lstStyle>
            <a:lvl1pPr marL="0" indent="0">
              <a:buNone/>
              <a:defRPr sz="18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altLang="ja-JP" noProof="0"/>
              <a:t>Picture</a:t>
            </a:r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2319053"/>
            <a:ext cx="2318657" cy="3020390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486C8876-2C82-4EFD-B907-7A22EB2EDABA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196757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8B9EC88A-D517-4BC5-ADDD-C81FB6D889F9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37262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ED9CDFD6-BE08-4D6C-8D13-300047686E3C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4407935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D4F4243A-0706-44D0-A704-FE5291E109A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24879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FA9BCE7-A82A-4359-B6D1-C8AD50A33DCE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512674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85800" y="2927426"/>
            <a:ext cx="7772400" cy="1362075"/>
          </a:xfrm>
        </p:spPr>
        <p:txBody>
          <a:bodyPr anchor="t"/>
          <a:lstStyle>
            <a:lvl1pPr algn="l">
              <a:defRPr sz="2250" b="0" cap="none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85800" y="4386195"/>
            <a:ext cx="77724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DE9E3DE1-4874-4F8F-8065-A889630E43F7}" type="datetime1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EFEDE3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676261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17ECBB67-4555-46BB-A9CD-00AF5311A674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128168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E06C8239-8E04-4670-A548-52B2086F6861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8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182406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539FB232-53F9-4AD3-BF92-96F6E632EB43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808547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BCBEFCE7-14B4-42F9-8914-6E0F7ADE8F60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3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519489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AF4B2249-E401-4950-9686-962D74BF0414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9964815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8271" y="719708"/>
            <a:ext cx="2287588" cy="1337695"/>
          </a:xfrm>
        </p:spPr>
        <p:txBody>
          <a:bodyPr anchor="b"/>
          <a:lstStyle>
            <a:lvl1pPr algn="l">
              <a:defRPr sz="1125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 hasCustomPrompt="1"/>
          </p:nvPr>
        </p:nvSpPr>
        <p:spPr>
          <a:xfrm>
            <a:off x="3200400" y="969169"/>
            <a:ext cx="5486400" cy="4370274"/>
          </a:xfrm>
        </p:spPr>
        <p:txBody>
          <a:bodyPr rtlCol="0">
            <a:normAutofit/>
          </a:bodyPr>
          <a:lstStyle>
            <a:lvl1pPr marL="0" indent="0">
              <a:buNone/>
              <a:defRPr sz="18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altLang="ja-JP" noProof="0"/>
              <a:t>Picture</a:t>
            </a:r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2319053"/>
            <a:ext cx="2318657" cy="3020390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5EA6F851-7ADC-4A86-B923-F3FDB7B4ED2A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703229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B54AE220-2C63-4ADE-BD8E-43EC9B692EFA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543593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6B9440F-1A1C-424D-9483-8496A4312EDB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81642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88227DE6-FDE2-4CC7-951F-CB9020289DCA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522813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6C5A4419-7C45-4180-A306-10D60F8FB346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168904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85800" y="2927426"/>
            <a:ext cx="7772400" cy="1362075"/>
          </a:xfrm>
        </p:spPr>
        <p:txBody>
          <a:bodyPr anchor="t"/>
          <a:lstStyle>
            <a:lvl1pPr algn="l">
              <a:defRPr sz="2250" b="0" cap="none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85800" y="4386195"/>
            <a:ext cx="77724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1863D17D-BDA5-435A-B809-E5F1D12AEB10}" type="datetime1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EFEDE3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56697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7357DDE-26ED-4553-8F17-B4099BDFCC24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875198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5C231EC4-24C3-4D2B-94D8-BD81FB93A2EC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8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237118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39FD2824-C27B-4E4A-AA71-0991E7B229DA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885347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1062FB7-332E-4602-8F92-DE773883C7B9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3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51145229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DD9FE35-989F-4DD4-B609-73E961EB82ED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2968005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8271" y="719708"/>
            <a:ext cx="2287588" cy="1337695"/>
          </a:xfrm>
        </p:spPr>
        <p:txBody>
          <a:bodyPr anchor="b"/>
          <a:lstStyle>
            <a:lvl1pPr algn="l">
              <a:defRPr sz="1125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 hasCustomPrompt="1"/>
          </p:nvPr>
        </p:nvSpPr>
        <p:spPr>
          <a:xfrm>
            <a:off x="3200400" y="969169"/>
            <a:ext cx="5486400" cy="4370274"/>
          </a:xfrm>
        </p:spPr>
        <p:txBody>
          <a:bodyPr rtlCol="0">
            <a:normAutofit/>
          </a:bodyPr>
          <a:lstStyle>
            <a:lvl1pPr marL="0" indent="0">
              <a:buNone/>
              <a:defRPr sz="18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altLang="ja-JP" noProof="0"/>
              <a:t>Picture</a:t>
            </a:r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2319053"/>
            <a:ext cx="2318657" cy="3020390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A38F6F3A-213B-4C3E-A989-5E57EE001806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208768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1B8C820-DDB0-4537-A261-5AA8D215F026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554360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6D8682B9-976F-4B53-9F04-8D63F669690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940442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976C102D-E8B6-4ED7-A692-F99EDC1EA61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526834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9A4E743-B43D-4F9B-B06A-E845A63E1132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036026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85800" y="2927426"/>
            <a:ext cx="7772400" cy="1362075"/>
          </a:xfrm>
        </p:spPr>
        <p:txBody>
          <a:bodyPr anchor="t"/>
          <a:lstStyle>
            <a:lvl1pPr algn="l">
              <a:defRPr sz="2250" b="0" cap="none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85800" y="4386195"/>
            <a:ext cx="77724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340B6D0A-E072-4A9A-83D4-FCFB4356C58E}" type="datetime1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EFEDE3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68458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322C1273-E9DF-4BBC-8D9E-DDB47B15850D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3307198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848520D2-E66F-4F88-9017-B2BF2F19BD6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8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2566450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54CE1DB2-9A72-4305-92B5-36428C53BD85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5612001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41B00E44-0812-4B7B-96A8-3A2ED5F9D02E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3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2263025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AD9B2735-CDB1-4B4B-B41E-6B9C46DF95E3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8677311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8271" y="719708"/>
            <a:ext cx="2287588" cy="1337695"/>
          </a:xfrm>
        </p:spPr>
        <p:txBody>
          <a:bodyPr anchor="b"/>
          <a:lstStyle>
            <a:lvl1pPr algn="l">
              <a:defRPr sz="1125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 hasCustomPrompt="1"/>
          </p:nvPr>
        </p:nvSpPr>
        <p:spPr>
          <a:xfrm>
            <a:off x="3200400" y="969169"/>
            <a:ext cx="5486400" cy="4370274"/>
          </a:xfrm>
        </p:spPr>
        <p:txBody>
          <a:bodyPr rtlCol="0">
            <a:normAutofit/>
          </a:bodyPr>
          <a:lstStyle>
            <a:lvl1pPr marL="0" indent="0">
              <a:buNone/>
              <a:defRPr sz="18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altLang="ja-JP" noProof="0"/>
              <a:t>Picture</a:t>
            </a:r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2319053"/>
            <a:ext cx="2318657" cy="3020390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2455C2A3-3AF2-48D5-B978-853ECC6CDC4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2210234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5F08553A-3EDF-42E6-9D05-27EEC71CD694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376969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6928732D-AA7C-49CF-933B-31FBBE08509A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241059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pPr defTabSz="685800">
              <a:defRPr/>
            </a:pPr>
            <a:fld id="{ADBBE67A-F3BD-4AD1-A63E-CC7EABFF4FB2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pPr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5660052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pPr defTabSz="685800">
              <a:defRPr/>
            </a:pPr>
            <a:fld id="{848095CB-4C96-4416-9669-BC71DC16DEBE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9175746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1A57E1F8-F03D-48E0-956F-76F548B0F808}" type="datetime1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r>
              <a:rPr kumimoji="0" lang="en-US" sz="900">
                <a:solidFill>
                  <a:srgbClr val="EFEDE3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23536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875FD6C9-B7EF-4E66-96EC-F32F419A3D18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2578173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2A9CA471-3B56-4A40-8820-843C0A92D33C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7395091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3C42D339-B6AC-484C-AD71-B1CC945FEB6B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3010930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7A802B35-03DB-4959-92DD-8D5755C1D0DD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12940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33028826-690F-43A3-952F-37964C8BF0A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3841518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8F6514E6-4F03-4C90-A6CF-0F48872A4A05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64017402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2057210F-B422-43C5-AF42-AA15C518596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590647794"/>
      </p:ext>
    </p:extLst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2057210F-B422-43C5-AF42-AA15C518596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73278897"/>
      </p:ext>
    </p:extLst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2057210F-B422-43C5-AF42-AA15C518596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54387069"/>
      </p:ext>
    </p:extLst>
  </p:cSld>
  <p:clrMapOvr>
    <a:masterClrMapping/>
  </p:clrMapOvr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2057210F-B422-43C5-AF42-AA15C518596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33637131"/>
      </p:ext>
    </p:extLst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2057210F-B422-43C5-AF42-AA15C518596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08444940"/>
      </p:ext>
    </p:extLst>
  </p:cSld>
  <p:clrMapOvr>
    <a:masterClrMapping/>
  </p:clrMapOvr>
  <p:hf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2057210F-B422-43C5-AF42-AA15C518596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49171974"/>
      </p:ext>
    </p:extLst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F39F92B2-AF4F-47D0-84DE-FDFADA682DD9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6329613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0782296B-27A5-40E4-B6A0-E586032DB02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103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0" y="6057875"/>
            <a:ext cx="9144000" cy="79208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80000">
                <a:srgbClr val="85C2FF">
                  <a:alpha val="0"/>
                </a:srgbClr>
              </a:gs>
              <a:gs pos="100000">
                <a:srgbClr val="85C2FF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13"/>
          </a:p>
        </p:txBody>
      </p:sp>
      <p:sp>
        <p:nvSpPr>
          <p:cNvPr id="1029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ja-JP" altLang="en-US"/>
          </a:p>
        </p:txBody>
      </p:sp>
      <p:sp>
        <p:nvSpPr>
          <p:cNvPr id="1030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2057210F-B422-43C5-AF42-AA15C518596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pic>
        <p:nvPicPr>
          <p:cNvPr id="9" name="Picture 4" descr="Image result for aiub logo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" y="6141603"/>
            <a:ext cx="724917" cy="7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02308" y="6057879"/>
            <a:ext cx="266290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latinLnBrk="1" hangingPunct="1"/>
            <a:endParaRPr lang="en-US" altLang="ja-JP" sz="900" b="1" i="0" baseline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baseline="0">
                <a:solidFill>
                  <a:srgbClr val="FF6600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Faculty of Engineering</a:t>
            </a:r>
            <a:endParaRPr lang="en-US" altLang="ja-JP" sz="900" b="1" i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American</a:t>
            </a:r>
            <a:r>
              <a:rPr lang="en-US" altLang="ja-JP" sz="900" b="1" i="0" baseline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 International University-Bangladesh</a:t>
            </a:r>
            <a:endParaRPr lang="en-US" altLang="ja-JP" sz="900" b="1" i="0">
              <a:solidFill>
                <a:schemeClr val="tx1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94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75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5pPr>
      <a:lvl6pPr marL="25717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6pPr>
      <a:lvl7pPr marL="51435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7pPr>
      <a:lvl8pPr marL="77152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8pPr>
      <a:lvl9pPr marL="102870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9pPr>
    </p:titleStyle>
    <p:bodyStyle>
      <a:lvl1pPr marL="192881" indent="-19288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ＭＳ Ｐゴシック"/>
        </a:defRPr>
      </a:lvl1pPr>
      <a:lvl2pPr marL="417910" indent="-1607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75" kern="1200">
          <a:solidFill>
            <a:schemeClr val="tx1"/>
          </a:solidFill>
          <a:latin typeface="+mn-lt"/>
          <a:ea typeface="+mn-ea"/>
          <a:cs typeface="ＭＳ Ｐゴシック"/>
        </a:defRPr>
      </a:lvl2pPr>
      <a:lvl3pPr marL="64293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ＭＳ Ｐゴシック"/>
        </a:defRPr>
      </a:lvl3pPr>
      <a:lvl4pPr marL="900113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4pPr>
      <a:lvl5pPr marL="115728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0" y="6057875"/>
            <a:ext cx="9144000" cy="79208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80000">
                <a:srgbClr val="85C2FF">
                  <a:alpha val="0"/>
                </a:srgbClr>
              </a:gs>
              <a:gs pos="100000">
                <a:srgbClr val="85C2FF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13"/>
          </a:p>
        </p:txBody>
      </p:sp>
      <p:sp>
        <p:nvSpPr>
          <p:cNvPr id="1029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ja-JP" altLang="en-US"/>
          </a:p>
        </p:txBody>
      </p:sp>
      <p:sp>
        <p:nvSpPr>
          <p:cNvPr id="1030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488FE6E3-93CC-41EA-89C2-9750962A83AA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pic>
        <p:nvPicPr>
          <p:cNvPr id="9" name="Picture 4" descr="Image result for aiub logo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" y="6141603"/>
            <a:ext cx="724917" cy="7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02308" y="6057879"/>
            <a:ext cx="266290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latinLnBrk="1" hangingPunct="1"/>
            <a:endParaRPr lang="en-US" altLang="ja-JP" sz="900" b="1" i="0" baseline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baseline="0">
                <a:solidFill>
                  <a:srgbClr val="FF6600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Faculty of Engineering</a:t>
            </a:r>
            <a:endParaRPr lang="en-US" altLang="ja-JP" sz="900" b="1" i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American</a:t>
            </a:r>
            <a:r>
              <a:rPr lang="en-US" altLang="ja-JP" sz="900" b="1" i="0" baseline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 International University-Bangladesh</a:t>
            </a:r>
            <a:endParaRPr lang="en-US" altLang="ja-JP" sz="900" b="1" i="0">
              <a:solidFill>
                <a:schemeClr val="tx1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80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75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5pPr>
      <a:lvl6pPr marL="25717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6pPr>
      <a:lvl7pPr marL="51435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7pPr>
      <a:lvl8pPr marL="77152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8pPr>
      <a:lvl9pPr marL="102870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9pPr>
    </p:titleStyle>
    <p:bodyStyle>
      <a:lvl1pPr marL="192881" indent="-19288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ＭＳ Ｐゴシック"/>
        </a:defRPr>
      </a:lvl1pPr>
      <a:lvl2pPr marL="417910" indent="-1607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75" kern="1200">
          <a:solidFill>
            <a:schemeClr val="tx1"/>
          </a:solidFill>
          <a:latin typeface="+mn-lt"/>
          <a:ea typeface="+mn-ea"/>
          <a:cs typeface="ＭＳ Ｐゴシック"/>
        </a:defRPr>
      </a:lvl2pPr>
      <a:lvl3pPr marL="64293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ＭＳ Ｐゴシック"/>
        </a:defRPr>
      </a:lvl3pPr>
      <a:lvl4pPr marL="900113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4pPr>
      <a:lvl5pPr marL="115728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0" y="6057875"/>
            <a:ext cx="9144000" cy="79208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80000">
                <a:srgbClr val="85C2FF">
                  <a:alpha val="0"/>
                </a:srgbClr>
              </a:gs>
              <a:gs pos="100000">
                <a:srgbClr val="85C2FF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13"/>
          </a:p>
        </p:txBody>
      </p:sp>
      <p:sp>
        <p:nvSpPr>
          <p:cNvPr id="1029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ja-JP" altLang="en-US"/>
          </a:p>
        </p:txBody>
      </p:sp>
      <p:sp>
        <p:nvSpPr>
          <p:cNvPr id="1030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85D5FBD6-6D17-4430-9FCF-502C06D78CF8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pic>
        <p:nvPicPr>
          <p:cNvPr id="9" name="Picture 4" descr="Image result for aiub logo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" y="6141603"/>
            <a:ext cx="724917" cy="7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02308" y="6057879"/>
            <a:ext cx="266290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latinLnBrk="1" hangingPunct="1"/>
            <a:endParaRPr lang="en-US" altLang="ja-JP" sz="900" b="1" i="0" baseline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baseline="0">
                <a:solidFill>
                  <a:srgbClr val="FF6600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Faculty of Engineering</a:t>
            </a:r>
            <a:endParaRPr lang="en-US" altLang="ja-JP" sz="900" b="1" i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American</a:t>
            </a:r>
            <a:r>
              <a:rPr lang="en-US" altLang="ja-JP" sz="900" b="1" i="0" baseline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 International University-Bangladesh</a:t>
            </a:r>
            <a:endParaRPr lang="en-US" altLang="ja-JP" sz="900" b="1" i="0">
              <a:solidFill>
                <a:schemeClr val="tx1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91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75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5pPr>
      <a:lvl6pPr marL="25717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6pPr>
      <a:lvl7pPr marL="51435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7pPr>
      <a:lvl8pPr marL="77152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8pPr>
      <a:lvl9pPr marL="102870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9pPr>
    </p:titleStyle>
    <p:bodyStyle>
      <a:lvl1pPr marL="192881" indent="-19288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ＭＳ Ｐゴシック"/>
        </a:defRPr>
      </a:lvl1pPr>
      <a:lvl2pPr marL="417910" indent="-1607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75" kern="1200">
          <a:solidFill>
            <a:schemeClr val="tx1"/>
          </a:solidFill>
          <a:latin typeface="+mn-lt"/>
          <a:ea typeface="+mn-ea"/>
          <a:cs typeface="ＭＳ Ｐゴシック"/>
        </a:defRPr>
      </a:lvl2pPr>
      <a:lvl3pPr marL="64293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ＭＳ Ｐゴシック"/>
        </a:defRPr>
      </a:lvl3pPr>
      <a:lvl4pPr marL="900113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4pPr>
      <a:lvl5pPr marL="115728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0" y="6057875"/>
            <a:ext cx="9144000" cy="79208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80000">
                <a:srgbClr val="85C2FF">
                  <a:alpha val="0"/>
                </a:srgbClr>
              </a:gs>
              <a:gs pos="100000">
                <a:srgbClr val="85C2FF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13"/>
          </a:p>
        </p:txBody>
      </p:sp>
      <p:sp>
        <p:nvSpPr>
          <p:cNvPr id="1029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ja-JP" altLang="en-US"/>
          </a:p>
        </p:txBody>
      </p:sp>
      <p:sp>
        <p:nvSpPr>
          <p:cNvPr id="1030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DCC66FFE-AB15-45CD-98EE-68FDA9B61E04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pic>
        <p:nvPicPr>
          <p:cNvPr id="9" name="Picture 4" descr="Image result for aiub logo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" y="6141603"/>
            <a:ext cx="724917" cy="7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02308" y="6057879"/>
            <a:ext cx="266290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latinLnBrk="1" hangingPunct="1"/>
            <a:endParaRPr lang="en-US" altLang="ja-JP" sz="900" b="1" i="0" baseline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baseline="0">
                <a:solidFill>
                  <a:srgbClr val="FF6600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Faculty of Engineering</a:t>
            </a:r>
            <a:endParaRPr lang="en-US" altLang="ja-JP" sz="900" b="1" i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American</a:t>
            </a:r>
            <a:r>
              <a:rPr lang="en-US" altLang="ja-JP" sz="900" b="1" i="0" baseline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 International University-Bangladesh</a:t>
            </a:r>
            <a:endParaRPr lang="en-US" altLang="ja-JP" sz="900" b="1" i="0">
              <a:solidFill>
                <a:schemeClr val="tx1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926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75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5pPr>
      <a:lvl6pPr marL="25717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6pPr>
      <a:lvl7pPr marL="51435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7pPr>
      <a:lvl8pPr marL="77152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8pPr>
      <a:lvl9pPr marL="102870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9pPr>
    </p:titleStyle>
    <p:bodyStyle>
      <a:lvl1pPr marL="192881" indent="-19288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ＭＳ Ｐゴシック"/>
        </a:defRPr>
      </a:lvl1pPr>
      <a:lvl2pPr marL="417910" indent="-1607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75" kern="1200">
          <a:solidFill>
            <a:schemeClr val="tx1"/>
          </a:solidFill>
          <a:latin typeface="+mn-lt"/>
          <a:ea typeface="+mn-ea"/>
          <a:cs typeface="ＭＳ Ｐゴシック"/>
        </a:defRPr>
      </a:lvl2pPr>
      <a:lvl3pPr marL="64293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ＭＳ Ｐゴシック"/>
        </a:defRPr>
      </a:lvl3pPr>
      <a:lvl4pPr marL="900113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4pPr>
      <a:lvl5pPr marL="115728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0" y="6057875"/>
            <a:ext cx="9144000" cy="79208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80000">
                <a:srgbClr val="85C2FF">
                  <a:alpha val="0"/>
                </a:srgbClr>
              </a:gs>
              <a:gs pos="100000">
                <a:srgbClr val="85C2FF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13"/>
          </a:p>
        </p:txBody>
      </p:sp>
      <p:sp>
        <p:nvSpPr>
          <p:cNvPr id="1029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ja-JP" altLang="en-US"/>
          </a:p>
        </p:txBody>
      </p:sp>
      <p:sp>
        <p:nvSpPr>
          <p:cNvPr id="1030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D22C516D-544B-43F7-A8F7-0E50D688A0D0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pic>
        <p:nvPicPr>
          <p:cNvPr id="9" name="Picture 4" descr="Image result for aiub logo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" y="6141603"/>
            <a:ext cx="724917" cy="7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02308" y="6057879"/>
            <a:ext cx="266290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latinLnBrk="1" hangingPunct="1"/>
            <a:endParaRPr lang="en-US" altLang="ja-JP" sz="900" b="1" i="0" baseline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baseline="0">
                <a:solidFill>
                  <a:srgbClr val="FF6600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Faculty of Engineering</a:t>
            </a:r>
            <a:endParaRPr lang="en-US" altLang="ja-JP" sz="900" b="1" i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American</a:t>
            </a:r>
            <a:r>
              <a:rPr lang="en-US" altLang="ja-JP" sz="900" b="1" i="0" baseline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 International University-Bangladesh</a:t>
            </a:r>
            <a:endParaRPr lang="en-US" altLang="ja-JP" sz="900" b="1" i="0">
              <a:solidFill>
                <a:schemeClr val="tx1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843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75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5pPr>
      <a:lvl6pPr marL="25717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6pPr>
      <a:lvl7pPr marL="51435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7pPr>
      <a:lvl8pPr marL="77152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8pPr>
      <a:lvl9pPr marL="102870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9pPr>
    </p:titleStyle>
    <p:bodyStyle>
      <a:lvl1pPr marL="192881" indent="-19288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ＭＳ Ｐゴシック"/>
        </a:defRPr>
      </a:lvl1pPr>
      <a:lvl2pPr marL="417910" indent="-1607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75" kern="1200">
          <a:solidFill>
            <a:schemeClr val="tx1"/>
          </a:solidFill>
          <a:latin typeface="+mn-lt"/>
          <a:ea typeface="+mn-ea"/>
          <a:cs typeface="ＭＳ Ｐゴシック"/>
        </a:defRPr>
      </a:lvl2pPr>
      <a:lvl3pPr marL="64293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ＭＳ Ｐゴシック"/>
        </a:defRPr>
      </a:lvl3pPr>
      <a:lvl4pPr marL="900113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4pPr>
      <a:lvl5pPr marL="115728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defTabSz="685800">
              <a:defRPr/>
            </a:pPr>
            <a:fld id="{2057210F-B422-43C5-AF42-AA15C518596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1/6/2026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06672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2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0151D6B-E042-7A47-8937-A0E2A3752973}"/>
              </a:ext>
            </a:extLst>
          </p:cNvPr>
          <p:cNvSpPr txBox="1">
            <a:spLocks/>
          </p:cNvSpPr>
          <p:nvPr/>
        </p:nvSpPr>
        <p:spPr>
          <a:xfrm>
            <a:off x="964400" y="46485"/>
            <a:ext cx="8413279" cy="878351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Logic And Circuits Lab (Section: L ) </a:t>
            </a:r>
          </a:p>
          <a:p>
            <a:pPr algn="ctr"/>
            <a:r>
              <a:rPr lang="en-US" sz="2800" b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 (Semester: Fall 2025-2026 )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74370FD-C2B2-5547-A17C-2BB2B513DBCC}"/>
              </a:ext>
            </a:extLst>
          </p:cNvPr>
          <p:cNvSpPr txBox="1">
            <a:spLocks/>
          </p:cNvSpPr>
          <p:nvPr/>
        </p:nvSpPr>
        <p:spPr>
          <a:xfrm>
            <a:off x="1039350" y="1192719"/>
            <a:ext cx="7850650" cy="117113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  :</a:t>
            </a:r>
            <a:r>
              <a:rPr 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Smart Power Monitoring System with Real-		            Time Energy Management and Cost Optimization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No       :</a:t>
            </a:r>
            <a:r>
              <a:rPr 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  <a:p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               :</a:t>
            </a:r>
            <a:r>
              <a:rPr 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31-12-2025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0614BA-EACB-ED12-2475-3354141DB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1</a:t>
            </a:fld>
            <a:endParaRPr kumimoji="0" lang="en-US" sz="180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ED769D-1365-D823-DDBA-73CEF8E0F3C2}"/>
              </a:ext>
            </a:extLst>
          </p:cNvPr>
          <p:cNvSpPr txBox="1">
            <a:spLocks/>
          </p:cNvSpPr>
          <p:nvPr/>
        </p:nvSpPr>
        <p:spPr>
          <a:xfrm>
            <a:off x="761200" y="2448737"/>
            <a:ext cx="2614052" cy="417748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F76EF64-177B-C6A0-B0EE-EFE278793E38}"/>
              </a:ext>
            </a:extLst>
          </p:cNvPr>
          <p:cNvSpPr txBox="1">
            <a:spLocks/>
          </p:cNvSpPr>
          <p:nvPr/>
        </p:nvSpPr>
        <p:spPr>
          <a:xfrm>
            <a:off x="832320" y="5308493"/>
            <a:ext cx="6284565" cy="417748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 Instructor:</a:t>
            </a:r>
            <a:r>
              <a:rPr lang="en-US" sz="24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 M Tanvir Hassan Shovon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3F7F3EA-6300-57EE-4DD1-5B638AFCE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847202"/>
              </p:ext>
            </p:extLst>
          </p:nvPr>
        </p:nvGraphicFramePr>
        <p:xfrm>
          <a:off x="1069830" y="2866485"/>
          <a:ext cx="7635335" cy="2245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7067">
                  <a:extLst>
                    <a:ext uri="{9D8B030D-6E8A-4147-A177-3AD203B41FA5}">
                      <a16:colId xmlns:a16="http://schemas.microsoft.com/office/drawing/2014/main" val="4099171008"/>
                    </a:ext>
                  </a:extLst>
                </a:gridCol>
                <a:gridCol w="2007493">
                  <a:extLst>
                    <a:ext uri="{9D8B030D-6E8A-4147-A177-3AD203B41FA5}">
                      <a16:colId xmlns:a16="http://schemas.microsoft.com/office/drawing/2014/main" val="2829644484"/>
                    </a:ext>
                  </a:extLst>
                </a:gridCol>
                <a:gridCol w="4100775">
                  <a:extLst>
                    <a:ext uri="{9D8B030D-6E8A-4147-A177-3AD203B41FA5}">
                      <a16:colId xmlns:a16="http://schemas.microsoft.com/office/drawing/2014/main" val="1005713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418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23-51165-1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NASIF, MORSHED MOSHAROF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089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23-51719-2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ESHITA, SHAKILA SULTANA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125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23-52996-3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OSMANI, AKIB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40582"/>
                  </a:ext>
                </a:extLst>
              </a:tr>
              <a:tr h="347979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23-53408-3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noProof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SHADHIN, MD. RASHEDUL ISLAM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95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23-53427-3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UMMA UMARA NASIBA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013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3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F6837-E763-34F3-D949-E399DA44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2</a:t>
            </a:fld>
            <a:endParaRPr kumimoji="0" lang="en-US" sz="180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1B693-5626-DF7C-1D68-0BA85D8FB35D}"/>
              </a:ext>
            </a:extLst>
          </p:cNvPr>
          <p:cNvSpPr/>
          <p:nvPr/>
        </p:nvSpPr>
        <p:spPr>
          <a:xfrm>
            <a:off x="-68870" y="-35168"/>
            <a:ext cx="923544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4D738-AA0E-8700-08DB-F30B8475FA4E}"/>
              </a:ext>
            </a:extLst>
          </p:cNvPr>
          <p:cNvSpPr txBox="1"/>
          <p:nvPr/>
        </p:nvSpPr>
        <p:spPr>
          <a:xfrm>
            <a:off x="2348287" y="133989"/>
            <a:ext cx="4447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Outlines of the project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9740C2-A370-EBE0-1B40-6F407838C859}"/>
              </a:ext>
            </a:extLst>
          </p:cNvPr>
          <p:cNvSpPr txBox="1"/>
          <p:nvPr/>
        </p:nvSpPr>
        <p:spPr>
          <a:xfrm>
            <a:off x="1253790" y="1443841"/>
            <a:ext cx="42021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36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Aims &amp; Objectives</a:t>
            </a:r>
          </a:p>
          <a:p>
            <a:pPr marL="457200" indent="-457200">
              <a:buAutoNum type="arabicPeriod"/>
            </a:pPr>
            <a:r>
              <a:rPr lang="en-US" sz="36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AutoNum type="arabicPeriod"/>
            </a:pPr>
            <a:r>
              <a:rPr lang="en-US" sz="36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 marL="457200" indent="-457200">
              <a:buAutoNum type="arabicPeriod"/>
            </a:pPr>
            <a:r>
              <a:rPr lang="en-US" sz="36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457200" indent="-457200">
              <a:buAutoNum type="arabicPeriod"/>
            </a:pPr>
            <a:r>
              <a:rPr lang="en-US" sz="36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 marL="457200" indent="-457200">
              <a:buAutoNum type="arabicPeriod"/>
            </a:pPr>
            <a:r>
              <a:rPr lang="en-US" sz="36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buAutoNum type="arabicPeriod"/>
            </a:pPr>
            <a:r>
              <a:rPr lang="en-US" sz="36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08813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F6837-E763-34F3-D949-E399DA44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3</a:t>
            </a:fld>
            <a:endParaRPr kumimoji="0" lang="en-US" sz="180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1B693-5626-DF7C-1D68-0BA85D8FB35D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4D738-AA0E-8700-08DB-F30B8475FA4E}"/>
              </a:ext>
            </a:extLst>
          </p:cNvPr>
          <p:cNvSpPr txBox="1"/>
          <p:nvPr/>
        </p:nvSpPr>
        <p:spPr>
          <a:xfrm>
            <a:off x="2549275" y="133989"/>
            <a:ext cx="40454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1. Aims &amp;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98C03-21F7-5D4A-D9BA-215385BA233C}"/>
              </a:ext>
            </a:extLst>
          </p:cNvPr>
          <p:cNvSpPr txBox="1"/>
          <p:nvPr/>
        </p:nvSpPr>
        <p:spPr>
          <a:xfrm>
            <a:off x="1032412" y="1240226"/>
            <a:ext cx="84976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Aim: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real-time web-based power consumption monitoring system for power consumption devices.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DB5C3C-4530-2006-A9C0-367B1E2DF9C8}"/>
              </a:ext>
            </a:extLst>
          </p:cNvPr>
          <p:cNvSpPr txBox="1"/>
          <p:nvPr/>
        </p:nvSpPr>
        <p:spPr>
          <a:xfrm>
            <a:off x="802641" y="2655308"/>
            <a:ext cx="8727439" cy="28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real-time data visualization interface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cost calculation and billing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alert system for usage monitoring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data export functionality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ESP32 sensor communication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system performance and accuracy</a:t>
            </a:r>
          </a:p>
        </p:txBody>
      </p:sp>
    </p:spTree>
    <p:extLst>
      <p:ext uri="{BB962C8B-B14F-4D97-AF65-F5344CB8AC3E}">
        <p14:creationId xmlns:p14="http://schemas.microsoft.com/office/powerpoint/2010/main" val="1760283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F6837-E763-34F3-D949-E399DA44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4</a:t>
            </a:fld>
            <a:endParaRPr kumimoji="0" lang="en-US" sz="180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1B693-5626-DF7C-1D68-0BA85D8FB35D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4D738-AA0E-8700-08DB-F30B8475FA4E}"/>
              </a:ext>
            </a:extLst>
          </p:cNvPr>
          <p:cNvSpPr txBox="1"/>
          <p:nvPr/>
        </p:nvSpPr>
        <p:spPr>
          <a:xfrm>
            <a:off x="2776591" y="133989"/>
            <a:ext cx="3590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2. 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A6A75-EE1C-418A-7CDC-1D9833E3E726}"/>
              </a:ext>
            </a:extLst>
          </p:cNvPr>
          <p:cNvSpPr txBox="1"/>
          <p:nvPr/>
        </p:nvSpPr>
        <p:spPr>
          <a:xfrm>
            <a:off x="970280" y="1232569"/>
            <a:ext cx="79603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visibility into device-level power consumption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electricity costs and usage patterns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automated monitoring and alert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08C59-1480-9DC9-864B-694B1BAFA863}"/>
              </a:ext>
            </a:extLst>
          </p:cNvPr>
          <p:cNvSpPr txBox="1"/>
          <p:nvPr/>
        </p:nvSpPr>
        <p:spPr>
          <a:xfrm>
            <a:off x="970280" y="3263381"/>
            <a:ext cx="75181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2-ports smart power consumption monitoring &amp; controlling with web dashboard interface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B44290-37E1-002E-1FBE-468871BA63E5}"/>
              </a:ext>
            </a:extLst>
          </p:cNvPr>
          <p:cNvSpPr txBox="1"/>
          <p:nvPr/>
        </p:nvSpPr>
        <p:spPr>
          <a:xfrm>
            <a:off x="970281" y="4177078"/>
            <a:ext cx="75800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Context: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 for energy management solutions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monitoring systems in smart homes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dashboards for real-time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086836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F6837-E763-34F3-D949-E399DA44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5</a:t>
            </a:fld>
            <a:endParaRPr kumimoji="0" lang="en-US" sz="180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1B693-5626-DF7C-1D68-0BA85D8FB35D}"/>
              </a:ext>
            </a:extLst>
          </p:cNvPr>
          <p:cNvSpPr/>
          <p:nvPr/>
        </p:nvSpPr>
        <p:spPr>
          <a:xfrm>
            <a:off x="0" y="-1415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4D738-AA0E-8700-08DB-F30B8475FA4E}"/>
              </a:ext>
            </a:extLst>
          </p:cNvPr>
          <p:cNvSpPr txBox="1"/>
          <p:nvPr/>
        </p:nvSpPr>
        <p:spPr>
          <a:xfrm>
            <a:off x="2776591" y="133989"/>
            <a:ext cx="3590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3.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C50D77-8D5D-88E8-5931-A4875F5B3E26}"/>
              </a:ext>
            </a:extLst>
          </p:cNvPr>
          <p:cNvSpPr txBox="1"/>
          <p:nvPr/>
        </p:nvSpPr>
        <p:spPr>
          <a:xfrm>
            <a:off x="284480" y="852753"/>
            <a:ext cx="87185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C6729-82D6-605C-FBB0-A47F036F5797}"/>
              </a:ext>
            </a:extLst>
          </p:cNvPr>
          <p:cNvSpPr txBox="1"/>
          <p:nvPr/>
        </p:nvSpPr>
        <p:spPr>
          <a:xfrm>
            <a:off x="1065079" y="1684087"/>
            <a:ext cx="4572000" cy="44319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ea typeface="ＭＳ Ｐゴシック"/>
                <a:cs typeface="Times New Roman"/>
              </a:rPr>
              <a:t>1.</a:t>
            </a:r>
            <a:r>
              <a:rPr lang="en-US" sz="2400">
                <a:latin typeface="Times New Roman"/>
                <a:ea typeface="ＭＳ Ｐゴシック"/>
                <a:cs typeface="Times New Roman"/>
              </a:rPr>
              <a:t>  ESP32 C3 (Micro controller)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ea typeface="ＭＳ Ｐゴシック"/>
                <a:cs typeface="Times New Roman"/>
              </a:rPr>
              <a:t>2.</a:t>
            </a:r>
            <a:r>
              <a:rPr lang="en-US" sz="2400">
                <a:latin typeface="Times New Roman"/>
                <a:ea typeface="ＭＳ Ｐゴシック"/>
                <a:cs typeface="Times New Roman"/>
              </a:rPr>
              <a:t>  5v Relay (Magnetic field relay)</a:t>
            </a:r>
            <a:endParaRPr lang="en-US" sz="2400" b="1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ea typeface="ＭＳ Ｐゴシック"/>
                <a:cs typeface="Times New Roman"/>
              </a:rPr>
              <a:t>3.</a:t>
            </a:r>
            <a:r>
              <a:rPr lang="en-US" sz="2400">
                <a:latin typeface="Times New Roman"/>
                <a:ea typeface="ＭＳ Ｐゴシック"/>
                <a:cs typeface="Times New Roman"/>
              </a:rPr>
              <a:t>  ZMPT101B (Voltage sensor)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ea typeface="ＭＳ Ｐゴシック"/>
                <a:cs typeface="Times New Roman"/>
              </a:rPr>
              <a:t>4.</a:t>
            </a:r>
            <a:r>
              <a:rPr lang="en-US" sz="2400">
                <a:latin typeface="Times New Roman"/>
                <a:ea typeface="ＭＳ Ｐゴシック"/>
                <a:cs typeface="Times New Roman"/>
              </a:rPr>
              <a:t>  ACS712 (Current sensor)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ea typeface="ＭＳ Ｐゴシック"/>
                <a:cs typeface="Times New Roman"/>
              </a:rPr>
              <a:t>5.</a:t>
            </a:r>
            <a:r>
              <a:rPr lang="en-US" sz="2400">
                <a:latin typeface="Times New Roman"/>
                <a:ea typeface="ＭＳ Ｐゴシック"/>
                <a:cs typeface="Times New Roman"/>
              </a:rPr>
              <a:t>  OLED Display - 0.96 inch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ea typeface="ＭＳ Ｐゴシック"/>
                <a:cs typeface="Times New Roman"/>
              </a:rPr>
              <a:t>6.</a:t>
            </a:r>
            <a:r>
              <a:rPr lang="en-US" sz="2400">
                <a:latin typeface="Times New Roman"/>
                <a:ea typeface="ＭＳ Ｐゴシック"/>
                <a:cs typeface="Times New Roman"/>
              </a:rPr>
              <a:t>  BC547 (NPN transistor)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ea typeface="ＭＳ Ｐゴシック"/>
                <a:cs typeface="Times New Roman"/>
              </a:rPr>
              <a:t>7.</a:t>
            </a:r>
            <a:r>
              <a:rPr lang="en-US" sz="2400">
                <a:latin typeface="Times New Roman"/>
                <a:ea typeface="ＭＳ Ｐゴシック"/>
                <a:cs typeface="Times New Roman"/>
              </a:rPr>
              <a:t>  5k ohm (Resistor)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ea typeface="ＭＳ Ｐゴシック"/>
                <a:cs typeface="Times New Roman"/>
              </a:rPr>
              <a:t>8.</a:t>
            </a:r>
            <a:r>
              <a:rPr lang="en-US" sz="2400">
                <a:latin typeface="Times New Roman"/>
                <a:ea typeface="ＭＳ Ｐゴシック"/>
                <a:cs typeface="Times New Roman"/>
              </a:rPr>
              <a:t>  Flyback Diode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ea typeface="ＭＳ Ｐゴシック"/>
                <a:cs typeface="Times New Roman"/>
              </a:rPr>
              <a:t>9.</a:t>
            </a:r>
            <a:r>
              <a:rPr lang="en-US" sz="2400">
                <a:latin typeface="Times New Roman"/>
                <a:ea typeface="ＭＳ Ｐゴシック"/>
                <a:cs typeface="Times New Roman"/>
              </a:rPr>
              <a:t>  Piano socket box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ea typeface="ＭＳ Ｐゴシック"/>
                <a:cs typeface="Times New Roman"/>
              </a:rPr>
              <a:t>10.</a:t>
            </a:r>
            <a:r>
              <a:rPr lang="en-US" sz="2400">
                <a:latin typeface="Times New Roman"/>
                <a:ea typeface="ＭＳ Ｐゴシック"/>
                <a:cs typeface="Times New Roman"/>
              </a:rPr>
              <a:t> Female plug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ea typeface="ＭＳ Ｐゴシック"/>
                <a:cs typeface="Times New Roman"/>
              </a:rPr>
              <a:t>11.</a:t>
            </a:r>
            <a:r>
              <a:rPr lang="en-US" sz="2400">
                <a:latin typeface="Times New Roman"/>
                <a:ea typeface="ＭＳ Ｐゴシック"/>
                <a:cs typeface="Times New Roman"/>
              </a:rPr>
              <a:t> Jumper wires</a:t>
            </a:r>
            <a:endParaRPr lang="en-US" sz="2400">
              <a:latin typeface="Times New Roman"/>
              <a:cs typeface="Times New Roman"/>
            </a:endParaRPr>
          </a:p>
          <a:p>
            <a:pPr algn="ctr"/>
            <a:endParaRPr lang="en-US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989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B1387B-02F9-9463-84DE-3388CCF4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6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6DEDF0-007B-EBE3-76D6-960D3AED6495}"/>
              </a:ext>
            </a:extLst>
          </p:cNvPr>
          <p:cNvSpPr txBox="1"/>
          <p:nvPr/>
        </p:nvSpPr>
        <p:spPr>
          <a:xfrm>
            <a:off x="2660072" y="976746"/>
            <a:ext cx="4572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 baseline="0" dirty="0">
                <a:solidFill>
                  <a:srgbClr val="002060"/>
                </a:solidFill>
                <a:latin typeface="Times New Roman"/>
                <a:ea typeface="ＭＳ Ｐゴシック"/>
              </a:rPr>
              <a:t>ESP32  (Micro controller)</a:t>
            </a:r>
            <a:endParaRPr lang="en-US" b="1" u="sng" dirty="0">
              <a:solidFill>
                <a:srgbClr val="002060"/>
              </a:solidFill>
              <a:ea typeface="ＭＳ Ｐゴシック"/>
            </a:endParaRPr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AB5F7-F96E-07B2-3BEC-9F12BD8CB26C}"/>
              </a:ext>
            </a:extLst>
          </p:cNvPr>
          <p:cNvSpPr txBox="1"/>
          <p:nvPr/>
        </p:nvSpPr>
        <p:spPr>
          <a:xfrm>
            <a:off x="1007823" y="1355095"/>
            <a:ext cx="3460173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rtl="0">
              <a:buFont typeface=""/>
              <a:buChar char="•"/>
            </a:pPr>
            <a:r>
              <a:rPr lang="en-US" sz="2400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ESP32 acts as the main control and processing unit.</a:t>
            </a:r>
            <a:r>
              <a:rPr lang="en-US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400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Powered via USB (5 V supply).</a:t>
            </a:r>
          </a:p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13E595-5AEE-AEC9-0015-CE9CA999185C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 baseline="0">
                <a:solidFill>
                  <a:schemeClr val="tx1"/>
                </a:solidFill>
                <a:latin typeface="Times New Roman"/>
              </a:rPr>
              <a:t>3. Methodology(Contd.)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65671AE-8218-49BC-AC96-274D5F6E5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931" y="1511296"/>
            <a:ext cx="1607007" cy="1658846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B9CAC8-E29C-9E46-E750-ED0ACB0ED351}"/>
              </a:ext>
            </a:extLst>
          </p:cNvPr>
          <p:cNvSpPr txBox="1"/>
          <p:nvPr/>
        </p:nvSpPr>
        <p:spPr>
          <a:xfrm>
            <a:off x="2281805" y="3380683"/>
            <a:ext cx="4580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u="sng" dirty="0">
                <a:solidFill>
                  <a:srgbClr val="002060"/>
                </a:solidFill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US" sz="2400" b="1" u="sng" dirty="0">
                <a:solidFill>
                  <a:srgbClr val="002060"/>
                </a:solidFill>
                <a:latin typeface="Times New Roman"/>
                <a:ea typeface="ＭＳ Ｐゴシック"/>
                <a:cs typeface="Times New Roman"/>
              </a:rPr>
              <a:t>5 V Relay (Magnetic field relay)</a:t>
            </a:r>
            <a:endParaRPr lang="en-US" sz="2400" b="1" u="sng" dirty="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9D547C3-D403-A8B6-6A73-123ACF895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736" y="3979254"/>
            <a:ext cx="2031534" cy="152365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9D03715-23A2-E2D4-F38D-482665A50A5F}"/>
              </a:ext>
            </a:extLst>
          </p:cNvPr>
          <p:cNvSpPr txBox="1"/>
          <p:nvPr/>
        </p:nvSpPr>
        <p:spPr>
          <a:xfrm>
            <a:off x="1007823" y="3929073"/>
            <a:ext cx="31744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2 relay coils are used to switch AC load.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AC high-voltage side is electrically isolated for safety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E44DD0E-4025-B9B3-9FBA-8D01190D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690076" y="3732537"/>
            <a:ext cx="1523650" cy="201707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E75895-B565-B55A-9F89-69F5550708DA}"/>
              </a:ext>
            </a:extLst>
          </p:cNvPr>
          <p:cNvSpPr txBox="1"/>
          <p:nvPr/>
        </p:nvSpPr>
        <p:spPr>
          <a:xfrm>
            <a:off x="-1677453" y="99583"/>
            <a:ext cx="76373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endParaRPr lang="en-US">
              <a:cs typeface="Calibri"/>
            </a:endParaRPr>
          </a:p>
          <a:p>
            <a:pPr algn="ctr"/>
            <a:endParaRPr lang="en-US"/>
          </a:p>
        </p:txBody>
      </p:sp>
      <p:pic>
        <p:nvPicPr>
          <p:cNvPr id="6" name="Picture 2" descr="ESPrtk Homepage">
            <a:extLst>
              <a:ext uri="{FF2B5EF4-FFF2-40B4-BE49-F238E27FC236}">
                <a16:creationId xmlns:a16="http://schemas.microsoft.com/office/drawing/2014/main" id="{72182F18-D2F0-6792-49FE-82D069B77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4524602" y="1468120"/>
            <a:ext cx="1887802" cy="174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17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6A48E-D860-4995-12D6-FD19C0D7B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B12299-1924-6CA7-7356-0807CF609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7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51F449-9F15-491D-C32C-FB0E1EF1BCE2}"/>
              </a:ext>
            </a:extLst>
          </p:cNvPr>
          <p:cNvSpPr txBox="1"/>
          <p:nvPr/>
        </p:nvSpPr>
        <p:spPr>
          <a:xfrm>
            <a:off x="2737909" y="879821"/>
            <a:ext cx="4572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  <a:latin typeface="Times New Roman"/>
                <a:ea typeface="ＭＳ Ｐゴシック"/>
                <a:cs typeface="Times New Roman"/>
              </a:rPr>
              <a:t>ZMPT101B (Voltage sensor)</a:t>
            </a:r>
            <a:endParaRPr lang="en-US" sz="2400" b="1" u="sng" dirty="0">
              <a:solidFill>
                <a:srgbClr val="002060"/>
              </a:solidFill>
              <a:latin typeface="Times New Roman"/>
              <a:cs typeface="Times New Roman"/>
            </a:endParaRP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9A4560-4B30-6143-9D52-6F0AB61C3B20}"/>
              </a:ext>
            </a:extLst>
          </p:cNvPr>
          <p:cNvSpPr txBox="1"/>
          <p:nvPr/>
        </p:nvSpPr>
        <p:spPr>
          <a:xfrm>
            <a:off x="1007823" y="1355095"/>
            <a:ext cx="4205638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Analog output of ZMPT101B connected to an ADC pin of ESP32-C3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RMS voltage calculated in software after calibration</a:t>
            </a:r>
          </a:p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2243DC-28D4-0917-3F98-AF64DB4593F8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 baseline="0">
                <a:solidFill>
                  <a:schemeClr val="tx1"/>
                </a:solidFill>
                <a:latin typeface="Times New Roman"/>
              </a:rPr>
              <a:t>3. Methodology(Contd.)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67F1AD-243F-F490-FD62-9A7C24435394}"/>
              </a:ext>
            </a:extLst>
          </p:cNvPr>
          <p:cNvSpPr txBox="1"/>
          <p:nvPr/>
        </p:nvSpPr>
        <p:spPr>
          <a:xfrm>
            <a:off x="2771465" y="3325349"/>
            <a:ext cx="4580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  <a:latin typeface="Times New Roman"/>
                <a:ea typeface="ＭＳ Ｐゴシック"/>
                <a:cs typeface="Times New Roman"/>
              </a:rPr>
              <a:t>ACS712 (Current sensor)</a:t>
            </a:r>
            <a:endParaRPr lang="en-US" sz="2400" b="1" u="sng" dirty="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F0FE93-0B42-0641-C2B7-AB52F1B37045}"/>
              </a:ext>
            </a:extLst>
          </p:cNvPr>
          <p:cNvSpPr txBox="1"/>
          <p:nvPr/>
        </p:nvSpPr>
        <p:spPr>
          <a:xfrm>
            <a:off x="1064397" y="3840601"/>
            <a:ext cx="37173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Two ACS712 sensors used for current measurement of two loads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Each ACS712 connected in series with the live wire of its load.</a:t>
            </a:r>
          </a:p>
        </p:txBody>
      </p:sp>
      <p:pic>
        <p:nvPicPr>
          <p:cNvPr id="2052" name="Picture 4" descr="Interfacing ZMPT101B Voltage Sensor with Arduino [full guide]">
            <a:extLst>
              <a:ext uri="{FF2B5EF4-FFF2-40B4-BE49-F238E27FC236}">
                <a16:creationId xmlns:a16="http://schemas.microsoft.com/office/drawing/2014/main" id="{975B84A2-3B55-A68F-F506-513626B1C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461" y="1401270"/>
            <a:ext cx="2210245" cy="1657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7288BA71-01B1-E1DF-A077-857FC2E42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3" t="30151" r="20818" b="9240"/>
          <a:stretch>
            <a:fillRect/>
          </a:stretch>
        </p:blipFill>
        <p:spPr bwMode="auto">
          <a:xfrm>
            <a:off x="7537504" y="1401270"/>
            <a:ext cx="1471626" cy="1657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nterfacing ACS712 Current Sensor with Arduino - Step by Step Guide to  Measure Current - Robu.in | Indian Online Store | RC Hobby | Robotics">
            <a:extLst>
              <a:ext uri="{FF2B5EF4-FFF2-40B4-BE49-F238E27FC236}">
                <a16:creationId xmlns:a16="http://schemas.microsoft.com/office/drawing/2014/main" id="{DDBEF6FC-60B3-A413-7361-9C9FEB653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28" y="3909871"/>
            <a:ext cx="2812289" cy="129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50EAADF3-72C0-70E2-6C65-53C8AE3EA2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84" t="12434"/>
          <a:stretch>
            <a:fillRect/>
          </a:stretch>
        </p:blipFill>
        <p:spPr bwMode="auto">
          <a:xfrm rot="16200000">
            <a:off x="6185675" y="4641238"/>
            <a:ext cx="1362996" cy="2812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785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602F-A888-B6C4-2A61-B435F6D5E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62B74C-FBDD-7CB0-E63D-5FE97E3D2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8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B8F8F0-2FF4-C932-B79B-F4284915C2EF}"/>
              </a:ext>
            </a:extLst>
          </p:cNvPr>
          <p:cNvSpPr txBox="1"/>
          <p:nvPr/>
        </p:nvSpPr>
        <p:spPr>
          <a:xfrm>
            <a:off x="2695963" y="892619"/>
            <a:ext cx="4572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  <a:latin typeface="Times New Roman"/>
                <a:ea typeface="ＭＳ Ｐゴシック"/>
                <a:cs typeface="Times New Roman"/>
              </a:rPr>
              <a:t>OLED Display - 0.96 inch</a:t>
            </a:r>
          </a:p>
          <a:p>
            <a:pPr algn="ctr"/>
            <a:endParaRPr lang="en-US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6D7F6-A4C5-686A-A058-C1E0EAADC1C2}"/>
              </a:ext>
            </a:extLst>
          </p:cNvPr>
          <p:cNvSpPr txBox="1"/>
          <p:nvPr/>
        </p:nvSpPr>
        <p:spPr>
          <a:xfrm>
            <a:off x="979918" y="1469774"/>
            <a:ext cx="4571999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OLED display powered from ESP32-C3 3.3 V pin.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ADC pins are used to sense voltage and current from sensors.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2 Digital Output (DO) pins are used to control 2 relay coils.</a:t>
            </a:r>
          </a:p>
          <a:p>
            <a:pPr algn="ctr"/>
            <a:endParaRPr lang="en-US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4518EC-3E4B-6946-7E83-5EA1B17ABEA1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 baseline="0" dirty="0">
                <a:solidFill>
                  <a:schemeClr val="tx1"/>
                </a:solidFill>
                <a:latin typeface="Times New Roman"/>
              </a:rPr>
              <a:t>3. Methodology(Contd.)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175C9B-DE31-4DF4-3826-E064E846737D}"/>
              </a:ext>
            </a:extLst>
          </p:cNvPr>
          <p:cNvSpPr txBox="1"/>
          <p:nvPr/>
        </p:nvSpPr>
        <p:spPr>
          <a:xfrm>
            <a:off x="2687574" y="3750002"/>
            <a:ext cx="4580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  <a:latin typeface="Times New Roman"/>
                <a:ea typeface="ＭＳ Ｐゴシック"/>
                <a:cs typeface="Times New Roman"/>
              </a:rPr>
              <a:t>Other Minor Components</a:t>
            </a:r>
            <a:endParaRPr lang="en-US" sz="2400" b="1" u="sng" dirty="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pic>
        <p:nvPicPr>
          <p:cNvPr id="3074" name="Picture 2" descr="SSD1306 OLED Display Pinout, Features ...">
            <a:extLst>
              <a:ext uri="{FF2B5EF4-FFF2-40B4-BE49-F238E27FC236}">
                <a16:creationId xmlns:a16="http://schemas.microsoft.com/office/drawing/2014/main" id="{A43DF621-8068-986D-406E-F5612F4F5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4021" y="1514978"/>
            <a:ext cx="1488324" cy="195152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5AF4B9-D7B5-CF3A-3660-ED33AAA70C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2" t="37333" b="39396"/>
          <a:stretch>
            <a:fillRect/>
          </a:stretch>
        </p:blipFill>
        <p:spPr bwMode="auto">
          <a:xfrm rot="16200000">
            <a:off x="6943287" y="1850550"/>
            <a:ext cx="1980493" cy="1331143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77" name="TextBox 13">
            <a:extLst>
              <a:ext uri="{FF2B5EF4-FFF2-40B4-BE49-F238E27FC236}">
                <a16:creationId xmlns:a16="http://schemas.microsoft.com/office/drawing/2014/main" id="{9351C914-70E5-C8EF-DD6A-7FD7A5F3DE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9958586"/>
              </p:ext>
            </p:extLst>
          </p:nvPr>
        </p:nvGraphicFramePr>
        <p:xfrm>
          <a:off x="1389888" y="4056643"/>
          <a:ext cx="7566116" cy="24710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E418313-F539-552A-AB79-9638CCC51B69}"/>
              </a:ext>
            </a:extLst>
          </p:cNvPr>
          <p:cNvSpPr txBox="1"/>
          <p:nvPr/>
        </p:nvSpPr>
        <p:spPr>
          <a:xfrm>
            <a:off x="592154" y="3226735"/>
            <a:ext cx="4580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eaLnBrk="1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endParaRPr lang="en-US" sz="1800" b="1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86679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4DB304-DBE2-6ACF-C3DF-00D28E20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9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071BCD-F926-BD2C-AC96-C0D3C7FD54ED}"/>
              </a:ext>
            </a:extLst>
          </p:cNvPr>
          <p:cNvGrpSpPr/>
          <p:nvPr/>
        </p:nvGrpSpPr>
        <p:grpSpPr>
          <a:xfrm>
            <a:off x="1120359" y="1881989"/>
            <a:ext cx="8607753" cy="3421151"/>
            <a:chOff x="1067605" y="1618220"/>
            <a:chExt cx="8607753" cy="3421151"/>
          </a:xfrm>
        </p:grpSpPr>
        <p:pic>
          <p:nvPicPr>
            <p:cNvPr id="3" name="Picture 4">
              <a:extLst>
                <a:ext uri="{FF2B5EF4-FFF2-40B4-BE49-F238E27FC236}">
                  <a16:creationId xmlns:a16="http://schemas.microsoft.com/office/drawing/2014/main" id="{162294F3-D9DA-189E-8A8E-5B06270348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7605" y="1618220"/>
              <a:ext cx="3504395" cy="29660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E7BC4B2F-CF42-FFCF-48AD-312A81E588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88" t="43587" r="16335" b="877"/>
            <a:stretch>
              <a:fillRect/>
            </a:stretch>
          </p:blipFill>
          <p:spPr bwMode="auto">
            <a:xfrm>
              <a:off x="5103358" y="1618220"/>
              <a:ext cx="3313728" cy="29660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92139F-CD96-33DE-08C4-32E14814E601}"/>
                </a:ext>
              </a:extLst>
            </p:cNvPr>
            <p:cNvSpPr txBox="1"/>
            <p:nvPr/>
          </p:nvSpPr>
          <p:spPr>
            <a:xfrm>
              <a:off x="1258272" y="4670039"/>
              <a:ext cx="33498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Fig 1</a:t>
              </a:r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: Simulation Setup for SPMS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7CAEDD3-3682-12C0-AC40-673953920B77}"/>
                </a:ext>
              </a:extLst>
            </p:cNvPr>
            <p:cNvSpPr txBox="1"/>
            <p:nvPr/>
          </p:nvSpPr>
          <p:spPr>
            <a:xfrm>
              <a:off x="5103358" y="4670039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Fig 2</a:t>
              </a:r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: Hardware Setup for SPMS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30F2FFE-D79E-0841-14B8-199BC3FF220D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 baseline="0" dirty="0">
                <a:solidFill>
                  <a:schemeClr val="tx1"/>
                </a:solidFill>
                <a:latin typeface="Times New Roman"/>
              </a:rPr>
              <a:t>3. Methodology(Contd.)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007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30106D-B5CD-2D93-337C-B62657A39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10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88934-85DC-B184-1B0D-3811B31FAD72}"/>
              </a:ext>
            </a:extLst>
          </p:cNvPr>
          <p:cNvSpPr txBox="1"/>
          <p:nvPr/>
        </p:nvSpPr>
        <p:spPr>
          <a:xfrm>
            <a:off x="1067815" y="914646"/>
            <a:ext cx="8718549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Implementation</a:t>
            </a:r>
          </a:p>
          <a:p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ESP32, sensors for voltage, current, power measurements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POST requests every 1-minute intervals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data format for standardized communication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 for persistent storage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calculations for cost and consumption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 for live dashboard updates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Development: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web interface design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binding and visualization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functionality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C677A6-711D-0915-A8DB-845F3349AB56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B9DFA2-0390-7556-4E95-B826BA925A48}"/>
              </a:ext>
            </a:extLst>
          </p:cNvPr>
          <p:cNvSpPr txBox="1"/>
          <p:nvPr/>
        </p:nvSpPr>
        <p:spPr>
          <a:xfrm>
            <a:off x="2336974" y="136521"/>
            <a:ext cx="47320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3. Methodology (Contd.)</a:t>
            </a:r>
          </a:p>
        </p:txBody>
      </p:sp>
    </p:spTree>
    <p:extLst>
      <p:ext uri="{BB962C8B-B14F-4D97-AF65-F5344CB8AC3E}">
        <p14:creationId xmlns:p14="http://schemas.microsoft.com/office/powerpoint/2010/main" val="3237697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F6837-E763-34F3-D949-E399DA44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11</a:t>
            </a:fld>
            <a:endParaRPr kumimoji="0" lang="en-US" sz="180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1B693-5626-DF7C-1D68-0BA85D8FB35D}"/>
              </a:ext>
            </a:extLst>
          </p:cNvPr>
          <p:cNvSpPr/>
          <p:nvPr/>
        </p:nvSpPr>
        <p:spPr>
          <a:xfrm>
            <a:off x="-54384" y="0"/>
            <a:ext cx="9198384" cy="6771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4D738-AA0E-8700-08DB-F30B8475FA4E}"/>
              </a:ext>
            </a:extLst>
          </p:cNvPr>
          <p:cNvSpPr txBox="1"/>
          <p:nvPr/>
        </p:nvSpPr>
        <p:spPr>
          <a:xfrm>
            <a:off x="2767799" y="63652"/>
            <a:ext cx="3590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Results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2A2B22-7B14-05CE-C919-1BEAFB3CF4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2" t="37333" b="39396"/>
          <a:stretch>
            <a:fillRect/>
          </a:stretch>
        </p:blipFill>
        <p:spPr bwMode="auto">
          <a:xfrm rot="16200000">
            <a:off x="5224657" y="2568982"/>
            <a:ext cx="2377700" cy="1598116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52D493A-134B-B020-418C-761545BB8A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7" t="-1" b="-2194"/>
          <a:stretch>
            <a:fillRect/>
          </a:stretch>
        </p:blipFill>
        <p:spPr bwMode="auto">
          <a:xfrm rot="16200000">
            <a:off x="7101707" y="2553498"/>
            <a:ext cx="2377702" cy="1598116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D7CE185-BE30-3BC3-2882-DAA2F9525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2" y="1138293"/>
            <a:ext cx="8249918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measurements obtained for Port 1 and Port 2 under the respective conditions are as follows: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FA7A77-4278-DA2D-9F94-12DE907F9447}"/>
              </a:ext>
            </a:extLst>
          </p:cNvPr>
          <p:cNvSpPr txBox="1"/>
          <p:nvPr/>
        </p:nvSpPr>
        <p:spPr>
          <a:xfrm>
            <a:off x="452721" y="2060569"/>
            <a:ext cx="50744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buFontTx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For Port 1, the voltage was recorded at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239.9 V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with a current of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1072 mA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 The deviation from the expected voltage was within a range of ±10% and the current showed a deviation of ±12% from the anticipated value.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AAA63D-36A7-95B9-7D74-C4D55DCBB876}"/>
              </a:ext>
            </a:extLst>
          </p:cNvPr>
          <p:cNvSpPr txBox="1"/>
          <p:nvPr/>
        </p:nvSpPr>
        <p:spPr>
          <a:xfrm>
            <a:off x="412081" y="3567869"/>
            <a:ext cx="50744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buFontTx/>
              <a:buChar char="•"/>
            </a:pPr>
            <a:r>
              <a:rPr kumimoji="0"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For Port 2, the voltage was measured at </a:t>
            </a:r>
            <a:r>
              <a:rPr kumimoji="0"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243.5 V</a:t>
            </a:r>
            <a:r>
              <a:rPr kumimoji="0"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with a current of </a:t>
            </a:r>
            <a:r>
              <a:rPr kumimoji="0"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1103 mA</a:t>
            </a:r>
            <a:r>
              <a:rPr kumimoji="0"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 The deviation in voltage was ±12%, and the current deviation was within ±11% of the predicted value.</a:t>
            </a:r>
            <a:endParaRPr kumimoji="0"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B8D8BF-9DE8-FD5B-1A5C-2BD2DEC323A8}"/>
              </a:ext>
            </a:extLst>
          </p:cNvPr>
          <p:cNvSpPr txBox="1"/>
          <p:nvPr/>
        </p:nvSpPr>
        <p:spPr>
          <a:xfrm>
            <a:off x="873761" y="5002439"/>
            <a:ext cx="79959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0" fontAlgn="base" latinLnBrk="0" hangingPunct="0">
              <a:buNone/>
            </a:pPr>
            <a:r>
              <a:rPr lang="en-US" sz="1800" b="0" i="0" kern="120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These results indicate the performance characteristics of the system under the specified conditions.</a:t>
            </a:r>
            <a:endParaRPr lang="en-US">
              <a:effectLst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523946-7114-F8A8-0AEB-40C6DBE74A9E}"/>
              </a:ext>
            </a:extLst>
          </p:cNvPr>
          <p:cNvSpPr txBox="1"/>
          <p:nvPr/>
        </p:nvSpPr>
        <p:spPr>
          <a:xfrm>
            <a:off x="5610154" y="4571379"/>
            <a:ext cx="3530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Hardware Values for Different ports</a:t>
            </a:r>
          </a:p>
        </p:txBody>
      </p:sp>
    </p:spTree>
    <p:extLst>
      <p:ext uri="{BB962C8B-B14F-4D97-AF65-F5344CB8AC3E}">
        <p14:creationId xmlns:p14="http://schemas.microsoft.com/office/powerpoint/2010/main" val="895054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4AAA8-4CAA-53AA-7BD4-716609663B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12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9D63FF-C778-F9EC-8A1A-6745A8ACA5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8" r="7125"/>
          <a:stretch>
            <a:fillRect/>
          </a:stretch>
        </p:blipFill>
        <p:spPr>
          <a:xfrm>
            <a:off x="1258941" y="1774973"/>
            <a:ext cx="6626117" cy="400079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6A2F3C-144A-52F0-F783-C6D89F9BCF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8705"/>
            <a:ext cx="9144000" cy="4832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F394A-D78D-5335-A19D-077BF234D724}"/>
              </a:ext>
            </a:extLst>
          </p:cNvPr>
          <p:cNvSpPr txBox="1">
            <a:spLocks/>
          </p:cNvSpPr>
          <p:nvPr/>
        </p:nvSpPr>
        <p:spPr>
          <a:xfrm>
            <a:off x="2776590" y="-74357"/>
            <a:ext cx="374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Results ( Contd. 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6022D8-13EF-7454-1B82-1FA6BE21D7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26609" y="2882096"/>
            <a:ext cx="1629413" cy="1585732"/>
          </a:xfrm>
          <a:custGeom>
            <a:avLst/>
            <a:gdLst>
              <a:gd name="csX0" fmla="*/ 0 w 1629413"/>
              <a:gd name="csY0" fmla="*/ 0 h 1585732"/>
              <a:gd name="csX1" fmla="*/ 559432 w 1629413"/>
              <a:gd name="csY1" fmla="*/ 0 h 1585732"/>
              <a:gd name="csX2" fmla="*/ 1135158 w 1629413"/>
              <a:gd name="csY2" fmla="*/ 0 h 1585732"/>
              <a:gd name="csX3" fmla="*/ 1629413 w 1629413"/>
              <a:gd name="csY3" fmla="*/ 0 h 1585732"/>
              <a:gd name="csX4" fmla="*/ 1629413 w 1629413"/>
              <a:gd name="csY4" fmla="*/ 496863 h 1585732"/>
              <a:gd name="csX5" fmla="*/ 1629413 w 1629413"/>
              <a:gd name="csY5" fmla="*/ 1057155 h 1585732"/>
              <a:gd name="csX6" fmla="*/ 1629413 w 1629413"/>
              <a:gd name="csY6" fmla="*/ 1585732 h 1585732"/>
              <a:gd name="csX7" fmla="*/ 1118864 w 1629413"/>
              <a:gd name="csY7" fmla="*/ 1585732 h 1585732"/>
              <a:gd name="csX8" fmla="*/ 624608 w 1629413"/>
              <a:gd name="csY8" fmla="*/ 1585732 h 1585732"/>
              <a:gd name="csX9" fmla="*/ 0 w 1629413"/>
              <a:gd name="csY9" fmla="*/ 1585732 h 1585732"/>
              <a:gd name="csX10" fmla="*/ 0 w 1629413"/>
              <a:gd name="csY10" fmla="*/ 1088869 h 1585732"/>
              <a:gd name="csX11" fmla="*/ 0 w 1629413"/>
              <a:gd name="csY11" fmla="*/ 544435 h 1585732"/>
              <a:gd name="csX12" fmla="*/ 0 w 1629413"/>
              <a:gd name="csY12" fmla="*/ 0 h 15857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29413" h="1585732" extrusionOk="0">
                <a:moveTo>
                  <a:pt x="0" y="0"/>
                </a:moveTo>
                <a:cubicBezTo>
                  <a:pt x="218524" y="22147"/>
                  <a:pt x="423482" y="25474"/>
                  <a:pt x="559432" y="0"/>
                </a:cubicBezTo>
                <a:cubicBezTo>
                  <a:pt x="695382" y="-25474"/>
                  <a:pt x="1005090" y="13348"/>
                  <a:pt x="1135158" y="0"/>
                </a:cubicBezTo>
                <a:cubicBezTo>
                  <a:pt x="1265226" y="-13348"/>
                  <a:pt x="1426281" y="9196"/>
                  <a:pt x="1629413" y="0"/>
                </a:cubicBezTo>
                <a:cubicBezTo>
                  <a:pt x="1649450" y="232375"/>
                  <a:pt x="1620209" y="342933"/>
                  <a:pt x="1629413" y="496863"/>
                </a:cubicBezTo>
                <a:cubicBezTo>
                  <a:pt x="1638617" y="650793"/>
                  <a:pt x="1610072" y="825181"/>
                  <a:pt x="1629413" y="1057155"/>
                </a:cubicBezTo>
                <a:cubicBezTo>
                  <a:pt x="1648754" y="1289129"/>
                  <a:pt x="1655341" y="1323929"/>
                  <a:pt x="1629413" y="1585732"/>
                </a:cubicBezTo>
                <a:cubicBezTo>
                  <a:pt x="1419688" y="1572975"/>
                  <a:pt x="1270530" y="1581944"/>
                  <a:pt x="1118864" y="1585732"/>
                </a:cubicBezTo>
                <a:cubicBezTo>
                  <a:pt x="967198" y="1589520"/>
                  <a:pt x="757891" y="1577264"/>
                  <a:pt x="624608" y="1585732"/>
                </a:cubicBezTo>
                <a:cubicBezTo>
                  <a:pt x="491325" y="1594200"/>
                  <a:pt x="203478" y="1575293"/>
                  <a:pt x="0" y="1585732"/>
                </a:cubicBezTo>
                <a:cubicBezTo>
                  <a:pt x="10033" y="1385765"/>
                  <a:pt x="-24832" y="1219336"/>
                  <a:pt x="0" y="1088869"/>
                </a:cubicBezTo>
                <a:cubicBezTo>
                  <a:pt x="24832" y="958402"/>
                  <a:pt x="768" y="776752"/>
                  <a:pt x="0" y="544435"/>
                </a:cubicBezTo>
                <a:cubicBezTo>
                  <a:pt x="-768" y="312118"/>
                  <a:pt x="-13615" y="165505"/>
                  <a:pt x="0" y="0"/>
                </a:cubicBezTo>
                <a:close/>
              </a:path>
            </a:pathLst>
          </a:custGeom>
          <a:noFill/>
          <a:ln w="190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1241844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46ED2E-566D-2754-153E-0FBCA4DC41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04184" y="2889816"/>
            <a:ext cx="1481285" cy="1585732"/>
          </a:xfrm>
          <a:custGeom>
            <a:avLst/>
            <a:gdLst>
              <a:gd name="csX0" fmla="*/ 0 w 1481285"/>
              <a:gd name="csY0" fmla="*/ 0 h 1585732"/>
              <a:gd name="csX1" fmla="*/ 508575 w 1481285"/>
              <a:gd name="csY1" fmla="*/ 0 h 1585732"/>
              <a:gd name="csX2" fmla="*/ 1031962 w 1481285"/>
              <a:gd name="csY2" fmla="*/ 0 h 1585732"/>
              <a:gd name="csX3" fmla="*/ 1481285 w 1481285"/>
              <a:gd name="csY3" fmla="*/ 0 h 1585732"/>
              <a:gd name="csX4" fmla="*/ 1481285 w 1481285"/>
              <a:gd name="csY4" fmla="*/ 496863 h 1585732"/>
              <a:gd name="csX5" fmla="*/ 1481285 w 1481285"/>
              <a:gd name="csY5" fmla="*/ 1057155 h 1585732"/>
              <a:gd name="csX6" fmla="*/ 1481285 w 1481285"/>
              <a:gd name="csY6" fmla="*/ 1585732 h 1585732"/>
              <a:gd name="csX7" fmla="*/ 1017149 w 1481285"/>
              <a:gd name="csY7" fmla="*/ 1585732 h 1585732"/>
              <a:gd name="csX8" fmla="*/ 567826 w 1481285"/>
              <a:gd name="csY8" fmla="*/ 1585732 h 1585732"/>
              <a:gd name="csX9" fmla="*/ 0 w 1481285"/>
              <a:gd name="csY9" fmla="*/ 1585732 h 1585732"/>
              <a:gd name="csX10" fmla="*/ 0 w 1481285"/>
              <a:gd name="csY10" fmla="*/ 1088869 h 1585732"/>
              <a:gd name="csX11" fmla="*/ 0 w 1481285"/>
              <a:gd name="csY11" fmla="*/ 544435 h 1585732"/>
              <a:gd name="csX12" fmla="*/ 0 w 1481285"/>
              <a:gd name="csY12" fmla="*/ 0 h 15857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481285" h="1585732" extrusionOk="0">
                <a:moveTo>
                  <a:pt x="0" y="0"/>
                </a:moveTo>
                <a:cubicBezTo>
                  <a:pt x="248234" y="-17333"/>
                  <a:pt x="273082" y="-14276"/>
                  <a:pt x="508575" y="0"/>
                </a:cubicBezTo>
                <a:cubicBezTo>
                  <a:pt x="744069" y="14276"/>
                  <a:pt x="786709" y="-9680"/>
                  <a:pt x="1031962" y="0"/>
                </a:cubicBezTo>
                <a:cubicBezTo>
                  <a:pt x="1277215" y="9680"/>
                  <a:pt x="1270971" y="22335"/>
                  <a:pt x="1481285" y="0"/>
                </a:cubicBezTo>
                <a:cubicBezTo>
                  <a:pt x="1501322" y="232375"/>
                  <a:pt x="1472081" y="342933"/>
                  <a:pt x="1481285" y="496863"/>
                </a:cubicBezTo>
                <a:cubicBezTo>
                  <a:pt x="1490489" y="650793"/>
                  <a:pt x="1461944" y="825181"/>
                  <a:pt x="1481285" y="1057155"/>
                </a:cubicBezTo>
                <a:cubicBezTo>
                  <a:pt x="1500626" y="1289129"/>
                  <a:pt x="1507213" y="1323929"/>
                  <a:pt x="1481285" y="1585732"/>
                </a:cubicBezTo>
                <a:cubicBezTo>
                  <a:pt x="1372234" y="1589242"/>
                  <a:pt x="1194067" y="1569327"/>
                  <a:pt x="1017149" y="1585732"/>
                </a:cubicBezTo>
                <a:cubicBezTo>
                  <a:pt x="840231" y="1602137"/>
                  <a:pt x="676989" y="1563313"/>
                  <a:pt x="567826" y="1585732"/>
                </a:cubicBezTo>
                <a:cubicBezTo>
                  <a:pt x="458663" y="1608151"/>
                  <a:pt x="249495" y="1576112"/>
                  <a:pt x="0" y="1585732"/>
                </a:cubicBezTo>
                <a:cubicBezTo>
                  <a:pt x="10033" y="1385765"/>
                  <a:pt x="-24832" y="1219336"/>
                  <a:pt x="0" y="1088869"/>
                </a:cubicBezTo>
                <a:cubicBezTo>
                  <a:pt x="24832" y="958402"/>
                  <a:pt x="768" y="776752"/>
                  <a:pt x="0" y="544435"/>
                </a:cubicBezTo>
                <a:cubicBezTo>
                  <a:pt x="-768" y="312118"/>
                  <a:pt x="-13615" y="165505"/>
                  <a:pt x="0" y="0"/>
                </a:cubicBezTo>
                <a:close/>
              </a:path>
            </a:pathLst>
          </a:custGeom>
          <a:noFill/>
          <a:ln w="190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1241844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6F57FA-89C9-9E1D-1054-F5099B0F2EF7}"/>
              </a:ext>
            </a:extLst>
          </p:cNvPr>
          <p:cNvSpPr txBox="1">
            <a:spLocks/>
          </p:cNvSpPr>
          <p:nvPr/>
        </p:nvSpPr>
        <p:spPr>
          <a:xfrm>
            <a:off x="1064794" y="495282"/>
            <a:ext cx="720852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Power Consumption Dashboard displays the following real-time data: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Port 1: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Voltage: 239.9 V, Current: 1072 mA, Power: 257 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Port 2: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Voltage: 243.5 V, Current: 1103 mA, Power: 268 W</a:t>
            </a: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79A57121-7EAF-D92C-3375-4E3D2BAF71D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10800000" flipH="1">
            <a:off x="1303458" y="925976"/>
            <a:ext cx="259123" cy="2772137"/>
          </a:xfrm>
          <a:prstGeom prst="curvedConnector4">
            <a:avLst>
              <a:gd name="adj1" fmla="val -88221"/>
              <a:gd name="adj2" fmla="val 99792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413D6BFB-C144-655A-8E8E-8E5EF2F2AD5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10800000">
            <a:off x="1643707" y="1283152"/>
            <a:ext cx="1956021" cy="1606664"/>
          </a:xfrm>
          <a:prstGeom prst="curvedConnector3">
            <a:avLst>
              <a:gd name="adj1" fmla="val 96748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AFEA38F-E32B-0D4D-42A0-F2118164B26E}"/>
              </a:ext>
            </a:extLst>
          </p:cNvPr>
          <p:cNvSpPr txBox="1">
            <a:spLocks/>
          </p:cNvSpPr>
          <p:nvPr/>
        </p:nvSpPr>
        <p:spPr>
          <a:xfrm>
            <a:off x="2956022" y="5841704"/>
            <a:ext cx="4784907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Billing Summary: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Total Today: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31.5 kWh, 252 BDT, 1h 23m runtime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Port 1 Today: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15.42 kWh (125.21 BDT)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Port 2 Today: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16.02 kWh (128.64 BDT)</a:t>
            </a:r>
          </a:p>
        </p:txBody>
      </p: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61144C1A-A923-49DA-D986-3C6B6A44E5F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16200000" flipH="1">
            <a:off x="2373037" y="5100508"/>
            <a:ext cx="977660" cy="480302"/>
          </a:xfrm>
          <a:prstGeom prst="curvedConnector3">
            <a:avLst>
              <a:gd name="adj1" fmla="val -12748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275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088654-CFD7-BB84-924E-E0B95C197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13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4538E8-ED5C-F40E-6AA3-FA6D3EC7CBE4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2CB1D-596C-FD53-1674-20D1D7761DA9}"/>
              </a:ext>
            </a:extLst>
          </p:cNvPr>
          <p:cNvSpPr txBox="1"/>
          <p:nvPr/>
        </p:nvSpPr>
        <p:spPr>
          <a:xfrm>
            <a:off x="2776590" y="133989"/>
            <a:ext cx="41728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5. Discussion (Contd.)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3FD0FA-F532-8F1E-F810-787FC55E169D}"/>
              </a:ext>
            </a:extLst>
          </p:cNvPr>
          <p:cNvSpPr txBox="1"/>
          <p:nvPr/>
        </p:nvSpPr>
        <p:spPr>
          <a:xfrm>
            <a:off x="969499" y="1211552"/>
            <a:ext cx="85344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visualization capabilities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Accurate power consumption tracking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implementation using open-source technologies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 for multiple devices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on stable internet connection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4-port  monitoring per device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Basic alert system without advanced AI features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Existing Solutions: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50% lower cost than alternatives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Comparable accuracy to industrial monitoring systems</a:t>
            </a:r>
          </a:p>
        </p:txBody>
      </p:sp>
    </p:spTree>
    <p:extLst>
      <p:ext uri="{BB962C8B-B14F-4D97-AF65-F5344CB8AC3E}">
        <p14:creationId xmlns:p14="http://schemas.microsoft.com/office/powerpoint/2010/main" val="2152361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F6837-E763-34F3-D949-E399DA44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14</a:t>
            </a:fld>
            <a:endParaRPr kumimoji="0" lang="en-US" sz="180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1B693-5626-DF7C-1D68-0BA85D8FB35D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4D738-AA0E-8700-08DB-F30B8475FA4E}"/>
              </a:ext>
            </a:extLst>
          </p:cNvPr>
          <p:cNvSpPr txBox="1"/>
          <p:nvPr/>
        </p:nvSpPr>
        <p:spPr>
          <a:xfrm>
            <a:off x="2776591" y="133989"/>
            <a:ext cx="3590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6. 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8E55FC-9939-DE50-F83F-CDFF164FE5E7}"/>
              </a:ext>
            </a:extLst>
          </p:cNvPr>
          <p:cNvSpPr txBox="1"/>
          <p:nvPr/>
        </p:nvSpPr>
        <p:spPr>
          <a:xfrm>
            <a:off x="803135" y="1283810"/>
            <a:ext cx="867564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real-time power consumption dashboard that meets all stated objectives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web-based monitoring system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IoT integration solution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dashboard interface design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data export functionality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Benefits: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15-25% potential reduction in electricity costs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visibility into device consumption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alert system for usage optimization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energy management decisions</a:t>
            </a:r>
          </a:p>
        </p:txBody>
      </p:sp>
    </p:spTree>
    <p:extLst>
      <p:ext uri="{BB962C8B-B14F-4D97-AF65-F5344CB8AC3E}">
        <p14:creationId xmlns:p14="http://schemas.microsoft.com/office/powerpoint/2010/main" val="3150944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F6837-E763-34F3-D949-E399DA44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15</a:t>
            </a:fld>
            <a:endParaRPr kumimoji="0" lang="en-US" sz="180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1B693-5626-DF7C-1D68-0BA85D8FB35D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4D738-AA0E-8700-08DB-F30B8475FA4E}"/>
              </a:ext>
            </a:extLst>
          </p:cNvPr>
          <p:cNvSpPr txBox="1"/>
          <p:nvPr/>
        </p:nvSpPr>
        <p:spPr>
          <a:xfrm>
            <a:off x="2776591" y="133989"/>
            <a:ext cx="3590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7. 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EE0460-5ED1-071C-19D1-B96899998F4F}"/>
              </a:ext>
            </a:extLst>
          </p:cNvPr>
          <p:cNvSpPr txBox="1"/>
          <p:nvPr/>
        </p:nvSpPr>
        <p:spPr>
          <a:xfrm>
            <a:off x="875989" y="1189925"/>
            <a:ext cx="8268011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References:</a:t>
            </a:r>
          </a:p>
          <a:p>
            <a:pPr lvl="1"/>
            <a:r>
              <a:rPr lang="en-US" sz="1900" b="1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Smith, J. et al. (2023). "IoT-based Energy Monitoring Systems." *Journal of Smart Grid Technology*, 15(3), 45-62.</a:t>
            </a:r>
          </a:p>
          <a:p>
            <a:pPr lvl="1"/>
            <a:r>
              <a:rPr lang="en-US" sz="1900" b="1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Johnson, A. (2022). "Real-time Data Visualization in Web Applications." *IEEE Transactions on Web Engineering*, 8(2), 123-135.</a:t>
            </a:r>
          </a:p>
          <a:p>
            <a:pPr lvl="1"/>
            <a:r>
              <a:rPr lang="en-US" sz="1900" b="1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Brown, M. &amp; Davis, L. (2023). "WebSocket Performance in IoT Applications." *ACM Computing Surveys*, 12(4), 78-91.</a:t>
            </a:r>
          </a:p>
          <a:p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Documentation:</a:t>
            </a:r>
          </a:p>
          <a:p>
            <a:pPr lvl="1"/>
            <a:r>
              <a:rPr lang="en-US" sz="1900" b="1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Node.js Foundation. (2024). "Node.js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Documentation.“https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://nodejs.org/docs/</a:t>
            </a:r>
          </a:p>
          <a:p>
            <a:pPr lvl="1"/>
            <a:r>
              <a:rPr lang="en-US" sz="1900" b="1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Socket.io Team. (2024). "Socket.io Real-time Engine." https://socket.io/docs/</a:t>
            </a:r>
          </a:p>
          <a:p>
            <a:pPr lvl="1"/>
            <a:r>
              <a:rPr lang="en-US" sz="1900" b="1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SQLite Consortium. (2024). "SQLite Database Engine." https://sqlite.org/docs.html</a:t>
            </a:r>
          </a:p>
        </p:txBody>
      </p:sp>
    </p:spTree>
    <p:extLst>
      <p:ext uri="{BB962C8B-B14F-4D97-AF65-F5344CB8AC3E}">
        <p14:creationId xmlns:p14="http://schemas.microsoft.com/office/powerpoint/2010/main" val="2686186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B60151-275B-234C-B96C-37225154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F6B988-E08C-4CCC-98F2-2921209802BF}" type="slidenum">
              <a:rPr lang="ja-JP" alt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16</a:t>
            </a:fld>
            <a:endParaRPr lang="ja-JP" alt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EA8F9D-28B9-547A-0356-19E4D60BFEE6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464068" y="-24476"/>
            <a:ext cx="621586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ts val="1200"/>
              </a:spcBef>
              <a:buFontTx/>
              <a:buNone/>
            </a:pPr>
            <a:r>
              <a:rPr lang="en-US" altLang="ja-JP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</a:t>
            </a:r>
          </a:p>
        </p:txBody>
      </p:sp>
      <p:pic>
        <p:nvPicPr>
          <p:cNvPr id="8" name="Picture 7" descr="A cartoon penguin on a computer&#10;&#10;AI-generated content may be incorrect.">
            <a:extLst>
              <a:ext uri="{FF2B5EF4-FFF2-40B4-BE49-F238E27FC236}">
                <a16:creationId xmlns:a16="http://schemas.microsoft.com/office/drawing/2014/main" id="{777A8F00-D8EE-315A-F2F8-40F55D113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106" y="1806002"/>
            <a:ext cx="3299662" cy="33594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1A01A8-1CDE-A95A-15C4-5CA7CFFE286F}"/>
              </a:ext>
            </a:extLst>
          </p:cNvPr>
          <p:cNvSpPr txBox="1"/>
          <p:nvPr/>
        </p:nvSpPr>
        <p:spPr>
          <a:xfrm>
            <a:off x="1908528" y="1263727"/>
            <a:ext cx="59287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ptos Slab Black" panose="020F0502020204030204" pitchFamily="34" charset="0"/>
                <a:cs typeface="Times New Roman" panose="02020603050405020304" pitchFamily="18" charset="0"/>
              </a:rPr>
              <a:t>Do you have any question?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BC01B-5368-A151-672D-53925E6932FF}"/>
              </a:ext>
            </a:extLst>
          </p:cNvPr>
          <p:cNvSpPr txBox="1"/>
          <p:nvPr/>
        </p:nvSpPr>
        <p:spPr>
          <a:xfrm>
            <a:off x="1721584" y="2380919"/>
            <a:ext cx="46014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0066FF"/>
                </a:solidFill>
              </a:rPr>
              <a:t>Feel free to ask.</a:t>
            </a:r>
          </a:p>
        </p:txBody>
      </p:sp>
    </p:spTree>
    <p:extLst>
      <p:ext uri="{BB962C8B-B14F-4D97-AF65-F5344CB8AC3E}">
        <p14:creationId xmlns:p14="http://schemas.microsoft.com/office/powerpoint/2010/main" val="4115622563"/>
      </p:ext>
    </p:extLst>
  </p:cSld>
  <p:clrMapOvr>
    <a:masterClrMapping/>
  </p:clrMapOvr>
</p:sld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2E072E0-9131-4F2B-BBDD-0C6C09A0DDB9}" vid="{96902E53-7297-44C2-A73C-48ADE784363B}"/>
    </a:ext>
  </a:extLst>
</a:theme>
</file>

<file path=ppt/theme/theme2.xml><?xml version="1.0" encoding="utf-8"?>
<a:theme xmlns:a="http://schemas.openxmlformats.org/drawingml/2006/main" name="1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2E072E0-9131-4F2B-BBDD-0C6C09A0DDB9}" vid="{96902E53-7297-44C2-A73C-48ADE784363B}"/>
    </a:ext>
  </a:extLst>
</a:theme>
</file>

<file path=ppt/theme/theme3.xml><?xml version="1.0" encoding="utf-8"?>
<a:theme xmlns:a="http://schemas.openxmlformats.org/drawingml/2006/main" name="2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2E072E0-9131-4F2B-BBDD-0C6C09A0DDB9}" vid="{96902E53-7297-44C2-A73C-48ADE784363B}"/>
    </a:ext>
  </a:extLst>
</a:theme>
</file>

<file path=ppt/theme/theme4.xml><?xml version="1.0" encoding="utf-8"?>
<a:theme xmlns:a="http://schemas.openxmlformats.org/drawingml/2006/main" name="3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2E072E0-9131-4F2B-BBDD-0C6C09A0DDB9}" vid="{96902E53-7297-44C2-A73C-48ADE784363B}"/>
    </a:ext>
  </a:extLst>
</a:theme>
</file>

<file path=ppt/theme/theme5.xml><?xml version="1.0" encoding="utf-8"?>
<a:theme xmlns:a="http://schemas.openxmlformats.org/drawingml/2006/main" name="4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2E072E0-9131-4F2B-BBDD-0C6C09A0DDB9}" vid="{96902E53-7297-44C2-A73C-48ADE784363B}"/>
    </a:ext>
  </a:extLst>
</a:theme>
</file>

<file path=ppt/theme/theme6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fee2eb7-804f-410f-bf90-02eae37f6dd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B558D2B788954E86B3EFB6FA372DB7" ma:contentTypeVersion="14" ma:contentTypeDescription="Create a new document." ma:contentTypeScope="" ma:versionID="846e91f16fa0a4a148bf1dea8f9172d4">
  <xsd:schema xmlns:xsd="http://www.w3.org/2001/XMLSchema" xmlns:xs="http://www.w3.org/2001/XMLSchema" xmlns:p="http://schemas.microsoft.com/office/2006/metadata/properties" xmlns:ns3="3fee2eb7-804f-410f-bf90-02eae37f6ddd" xmlns:ns4="deec96ca-b732-4449-8ec9-76b372d6d89b" targetNamespace="http://schemas.microsoft.com/office/2006/metadata/properties" ma:root="true" ma:fieldsID="d892f242e8c3c9cdd155bc0e20853177" ns3:_="" ns4:_="">
    <xsd:import namespace="3fee2eb7-804f-410f-bf90-02eae37f6ddd"/>
    <xsd:import namespace="deec96ca-b732-4449-8ec9-76b372d6d89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ee2eb7-804f-410f-bf90-02eae37f6d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ec96ca-b732-4449-8ec9-76b372d6d89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DC9687-F941-46F5-ABDC-60AEAD04CD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CC0761-6AF1-45C0-A4A0-64CC679ADB84}">
  <ds:schemaRefs>
    <ds:schemaRef ds:uri="http://www.w3.org/XML/1998/namespace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3fee2eb7-804f-410f-bf90-02eae37f6ddd"/>
    <ds:schemaRef ds:uri="http://schemas.openxmlformats.org/package/2006/metadata/core-properties"/>
    <ds:schemaRef ds:uri="deec96ca-b732-4449-8ec9-76b372d6d89b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44D5047-DAE2-42B4-88A2-F30368A3E969}">
  <ds:schemaRefs>
    <ds:schemaRef ds:uri="3fee2eb7-804f-410f-bf90-02eae37f6ddd"/>
    <ds:schemaRef ds:uri="deec96ca-b732-4449-8ec9-76b372d6d8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Words>1152</Words>
  <Application>Microsoft Office PowerPoint</Application>
  <PresentationFormat>On-screen Show (4:3)</PresentationFormat>
  <Paragraphs>184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ＭＳ Ｐゴシック</vt:lpstr>
      <vt:lpstr>Aptos Slab Black</vt:lpstr>
      <vt:lpstr>Arial</vt:lpstr>
      <vt:lpstr>Calibri</vt:lpstr>
      <vt:lpstr>Cambria</vt:lpstr>
      <vt:lpstr>Corbel</vt:lpstr>
      <vt:lpstr>Franklin Gothic Book</vt:lpstr>
      <vt:lpstr>Times New Roman</vt:lpstr>
      <vt:lpstr>Theme1</vt:lpstr>
      <vt:lpstr>1_Theme1</vt:lpstr>
      <vt:lpstr>2_Theme1</vt:lpstr>
      <vt:lpstr>3_Theme1</vt:lpstr>
      <vt:lpstr>4_Theme1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CLIPPERS</dc:title>
  <dc:creator>Md. Mamunur Rashid</dc:creator>
  <cp:lastModifiedBy>MD. RASHEDUL ISLAM SHADHIN</cp:lastModifiedBy>
  <cp:revision>2</cp:revision>
  <dcterms:created xsi:type="dcterms:W3CDTF">2016-06-11T11:25:17Z</dcterms:created>
  <dcterms:modified xsi:type="dcterms:W3CDTF">2026-01-06T14:53:40Z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0x010100B7B558D2B788954E86B3EFB6FA372DB7</vt:lpwstr>
  </property>
</Properties>
</file>